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apresentação mostra os resultados da análise exploratória do KuaiRec. O foco não é descrever o dataset por descrever, e sim responder: o que os dados dizem sobre a recompensa, o espaço de ações, as sessões e a hipótese de fadiga, e o que isso muda no pipeline de Offline 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detalhes, os cinco achados principais. Cada um corresponde a uma decisão concreta no pipeline: como definir a recompensa, quão conservador ser, onde está a dificuldade real, como cortar as sessões e como calibrar o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Azul é a big matrix, laranja a small matrix. Nos logs, muitas interações têm watch ratio perto de zero, o que indica vídeos pulados. Na small matrix, a distribuição se concentra perto de 0,7. Isso significa que as duas fontes não são equivalentes, e precisamos de cuidado ao comparar números do simulador com números da avaliação off-policy. O acúmulo em 4 é o efeito de exibição: tudo acima de 4 foi agrupado ali. O corte em 2 que usamos no pipeline elimina a influência desses replays.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mais importante para a definição da recompensa. O watch ratio é tempo assistido dividido pela duração, então um vídeo de 3 segundos assistido em loop passa facilmente de 1, enquanto um vídeo de 2 minutos raramente chega lá. Se usarmos o watch ratio bruto, a política tende a privilegiar vídeos curtos. A correção é normalizar a recompensa pela faixa de duração, por exemplo subtraindo ou dividindo pela média do decil.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a curva de Lorenz: quanto mais longe da diagonal, mais concentrado. Os itens têm Gini 0,67, os usuários 0,32. À direita, o rank de cada item contra o número de exposições: há um bloco de cerca de 3 mil vídeos com milhares de exposições e uma cauda de vídeos pouco exibidos. Em um sistema real, essa cauda é onde o distributional shift é mais perigoso, porque o modelo tem pouquíssima evidência sobre esses itens.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restringimos as ações aos vídeos da small matrix, a pergunta é: quanto os logs cobrem essas ações? A resposta é: muito bem. A grande maioria tem entre mil e dez mil exposições. Isso torna o problema mais fácil do que um recomendador real, em que a cauda longa faz parte do catálogo. Vale registrar isso como limitação ao comparar algoritmos conservadores e não conservadores.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teste direto do viés de exposição. À esquerda, os decis de popularidade: o sistema antigo não exibiu mais os melhores vídeos, a qualidade real é parecida em todos os decis. Os logs ficam sempre um pouco acima do real, um sinal de seleção: os vídeos chegam a quem tende a gostar deles. À direita, a média de cada item nos logs e na matriz densa é quase idêntica, Spearman 0,98. Conclusão: estimar a qualidade média de um item a partir dos logs funciona. O difícil é a personalização, saber qual vídeo funciona para qual usuário em qual momento. Atenção: a escala do gráfico da esquerda é estreita, as diferenças são pequenas.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definir episódios, precisamos de um critério de fim de sessão. O histograma do tempo entre interações em escala log mostra dois comportamentos: o uso contínuo, com intervalos de poucos minutos, e a volta ao app depois de horas, com um pico perto de um dia. Entre os dois há um vale, e os três cortes testados caem nele. Isso dá respaldo empírico ao corte de 60 minutos que usamos.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corte definido, olhamos o tamanho dos episódios. A distribuição é extremamente assimétrica: muitas sessões de um único vídeo, que para RL são apenas um problema de bandit, e uma cauda que passa de mil passos. Com fator de desconto 0,9, o horizonte efetivo é da ordem de dez passos, então sessões muito longas não precisam ser tratadas inteiras. No simulador usamos 30 passos, o que é compatível com a maior parte das sessões.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coleta não é contínua: há três ondas, no início de julho, no início de agosto e no fim de agosto, com intervalos quase vazios. Isso tem duas consequências. Primeiro, uma divisão temporal de treino e validação deve respeitar essas ondas, por exemplo treinar nas duas primeiras e validar na terceira. Segundo, sessões não devem atravessar os intervalos, o que o corte por inatividade já garante. O padrão por hora mostra pico de manhã no horário de Pequim, e a hora do dia é candidata natural a atributo de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categorias são muito desbalanceadas. A 28 sozinha tem cerca de 17,5% das interações, e as quatro maiores somam perto de metade. Isso reflete tanto o gosto dos usuários quanto as escolhas do recomendador antigo. Para o nosso problema, significa que uma política que imita os logs vai repetir muito essas categorias, o que conecta com a hipótese de fadiga do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teste da hipótese central do projeto: o usuário cansa de ver a mesma categoria? Para separar fadiga de gosto, comparamos o watch ratio com a média do próprio usuário naquela categoria. Até seis repetições em dez não há efeito. A partir de sete, o watch ratio cai, chegando a cerca de 0,08 abaixo da média. A fadiga existe, mas é mais fraca e aparece mais tarde do que a regra de abandono do nosso simulador assume. Antes de tirar conclusões sobre o CQL superar o BC, precisamos recalibrar essa regra, senão o simulador favorece artificialmente políticas que diversificam.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tabela consolida a apresentação. Metade dos achados confirma escolhas que já tínhamos feito: o corte da recompensa, o corte de sessão e o uso de um CQL pouco conservador. A outra metade pede mudanças: normalizar a recompensa pela duração, filtrar sessões, validar com divisão temporal e, principalmente, recalibrar o simulador para que a fadiga reflita o que os dados mostram.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a EDA não muda os algoritmos, muda o problema que eles resolvem. As duas prioridades são a recompensa normalizada pela duração e a regra de abandono do simulador calibrada com o efeito de fadiga observado. Depois disso, rodamos de novo o pipeline com o KuaiRec real e comparamos BC, SQN e CQL.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78561"/>
            <a:ext cx="1016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301"/>
            <a:ext cx="10566400" cy="415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78561"/>
            <a:ext cx="1016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301"/>
            <a:ext cx="10566400" cy="415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8059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 EXPLORATÓRIA · KUAIREC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19070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os dados revelam antes de treinar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314190"/>
            <a:ext cx="9156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Sete análises e o que cada uma muda na modelagem de Offline RL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Dados: big matrix (logs enviesados) e small matrix (matriz quase totalmente observada) do KuaiRec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Cinco achados que mudam a modelagem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10566400" cy="0"/>
          </a:xfrm>
          <a:prstGeom prst="line">
            <a:avLst/>
          </a:prstGeom>
          <a:noFill/>
          <a:ln w="6350">
            <a:solidFill>
              <a:srgbClr val="C9C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73580"/>
            <a:ext cx="5588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24000" y="1973580"/>
            <a:ext cx="101508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recompensa favorece vídeos curtos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283460"/>
            <a:ext cx="10150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Normalizar o watch ratio pela duração do vídeo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626995"/>
            <a:ext cx="10566400" cy="0"/>
          </a:xfrm>
          <a:prstGeom prst="line">
            <a:avLst/>
          </a:prstGeom>
          <a:noFill/>
          <a:ln w="6350">
            <a:solidFill>
              <a:srgbClr val="C9C2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755900"/>
            <a:ext cx="5588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24000" y="2755900"/>
            <a:ext cx="101508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vídeos da small matrix são bem cobertos pelos logs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3065780"/>
            <a:ext cx="10150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distributional shift dentro do espaço de ações é moderado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409315"/>
            <a:ext cx="10566400" cy="0"/>
          </a:xfrm>
          <a:prstGeom prst="line">
            <a:avLst/>
          </a:prstGeom>
          <a:noFill/>
          <a:ln w="6350">
            <a:solidFill>
              <a:srgbClr val="C9C2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538220"/>
            <a:ext cx="5588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4000" y="3538220"/>
            <a:ext cx="101508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média de cada item nos logs bate com a real (Spearman 0,98)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3848100"/>
            <a:ext cx="10150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dificuldade está na personalização, não em estimar a qualidade do item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191635"/>
            <a:ext cx="10566400" cy="0"/>
          </a:xfrm>
          <a:prstGeom prst="line">
            <a:avLst/>
          </a:prstGeom>
          <a:noFill/>
          <a:ln w="6350">
            <a:solidFill>
              <a:srgbClr val="C9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320540"/>
            <a:ext cx="5588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24000" y="4320540"/>
            <a:ext cx="101508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vale entre 30 min e 2 h separa naturalmente as sessões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4630420"/>
            <a:ext cx="10150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corte de 60 min usado no pipeline se confirma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973955"/>
            <a:ext cx="10566400" cy="0"/>
          </a:xfrm>
          <a:prstGeom prst="line">
            <a:avLst/>
          </a:prstGeom>
          <a:noFill/>
          <a:ln w="6350">
            <a:solidFill>
              <a:srgbClr val="C9C2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" y="5755005"/>
            <a:ext cx="10566400" cy="0"/>
          </a:xfrm>
          <a:prstGeom prst="line">
            <a:avLst/>
          </a:prstGeom>
          <a:noFill/>
          <a:ln w="6350">
            <a:solidFill>
              <a:srgbClr val="C9C2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5102860"/>
            <a:ext cx="5588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450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24000" y="5102860"/>
            <a:ext cx="101508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fadiga existe, mas só aparece com muita repetição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5412740"/>
            <a:ext cx="10150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de abandono do simulador precisa ser recalibrada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RECOMPENSA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0464800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watch ratio tem muitos zeros nos logs e uma cauda longa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48841"/>
            <a:ext cx="5588000" cy="37465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pic>
        <p:nvPicPr>
          <p:cNvPr id="5" name="Image 0" descr="Histograma do watch ratio na big matrix e na small matrix, truncado em 4, com linha vertical no corte de 2,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955" y="2155191"/>
            <a:ext cx="5469689" cy="3733800"/>
          </a:xfrm>
          <a:custGeom>
            <a:avLst/>
            <a:gdLst/>
            <a:ahLst/>
            <a:cxnLst/>
            <a:rect l="l" t="t" r="r" b="b"/>
            <a:pathLst>
              <a:path w="5469689" h="3733800">
                <a:moveTo>
                  <a:pt x="0" y="9980"/>
                </a:moveTo>
                <a:arcTo wR="95250" hR="95250" stAng="14612242" swAng="1587758"/>
                <a:lnTo>
                  <a:pt x="5427245" y="0"/>
                </a:lnTo>
                <a:arcTo wR="95250" hR="95250" stAng="16200000" swAng="1587758"/>
                <a:lnTo>
                  <a:pt x="5469689" y="3723820"/>
                </a:lnTo>
                <a:arcTo wR="95250" hR="95250" stAng="3812242" swAng="1587758"/>
                <a:lnTo>
                  <a:pt x="42445" y="3733800"/>
                </a:lnTo>
                <a:arcTo wR="95250" hR="95250" stAng="5400000" swAng="1587758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5975" y="2152016"/>
            <a:ext cx="5581650" cy="37401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215519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22606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Pulos rápidos nos logs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55524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Nos logs há um pico perto de zero: vídeos pulados logo no início. Na small matrix, a moda fica perto de 0,7.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319151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329692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distribuições diferentes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591561"/>
            <a:ext cx="476148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 e matriz densa não têm o mesmo formato. Valores absolutos do simulador e da avaliação nos logs não são diretamente comparáveis.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444119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45466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Cauda acima de 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84124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fração pequena passa de 2, com acúmulo em 4 ou mais (vídeos repetidos em loop). O corte em 2 limita esses outliers.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RECOMPENSA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0464800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Vídeos curtos ganham watch ratio maior só por serem curtos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48841"/>
            <a:ext cx="5588000" cy="37465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pic>
        <p:nvPicPr>
          <p:cNvPr id="5" name="Image 0" descr="Média e mediana do watch ratio por decil de duração do vídeo, caindo de cerca de 1,6 nos vídeos mais curtos para cerca de 0,2 nos mais long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61" y="2155191"/>
            <a:ext cx="5338679" cy="3733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2152016"/>
            <a:ext cx="5581650" cy="37401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215519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22606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Queda forte e contínua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55524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média cai de cerca de 1,6 nos vídeos mais curtos (≈3 s) para cerca de 0,2 nos mais longos (mais de 100 s).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319151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329692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Risco para a política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59156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Otimizando o watch ratio bruto, o agente pode aprender só a recomendar vídeos curtos, sem refletir interesse real.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422783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4333241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Ajuste sugerido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627880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Usar o watch ratio relativo à média da faixa de duração, ou combinar com o tempo assistido (play_duration).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CAUDA LONGA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Poucos itens concentram as exposições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10566400" cy="3651250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/>
        </p:spPr>
      </p:sp>
      <p:pic>
        <p:nvPicPr>
          <p:cNvPr id="5" name="Image 0" descr="Curva de Lorenz das interações (Gini 0,67 para itens e 0,32 para usuários) e gráfico rank por frequência das exposições por item em escala log">    </p:cNvPr>
          <p:cNvPicPr>
            <a:picLocks noChangeAspect="1"/>
          </p:cNvPicPr>
          <p:nvPr/>
        </p:nvPicPr>
        <p:blipFill>
          <a:blip r:embed="rId1"/>
          <a:srcRect l="-100" r="-100" t="0" b="0"/>
          <a:stretch/>
        </p:blipFill>
        <p:spPr>
          <a:xfrm>
            <a:off x="819150" y="1746250"/>
            <a:ext cx="10553700" cy="3638550"/>
          </a:xfrm>
          <a:prstGeom prst="roundRect">
            <a:avLst>
              <a:gd name="adj" fmla="val 261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10560050" cy="3644900"/>
          </a:xfrm>
          <a:prstGeom prst="roundRect">
            <a:avLst>
              <a:gd name="adj" fmla="val 2700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54355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Gini de 0,67 para itens e 0,32 para usuários: a atividade dos usuários é bem distribuída, a exposição dos vídeos não. Os ~3 mil vídeos mais exibidos recebem milhares de exposições cada; depois disso a curva despenca.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ESPAÇO DE AÇÕES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046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vídeos da small matrix são bem cobertos pelos logs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588000" cy="37465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pic>
        <p:nvPicPr>
          <p:cNvPr id="5" name="Image 0" descr="Histograma do número de exposições na big matrix dos itens da small matrix, concentrado entre mil e dez mil exposiçõ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940560"/>
            <a:ext cx="5575300" cy="33451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5581650" cy="37401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174625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1851661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Milhares de exposições por item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146300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maioria dos vídeos da small matrix tem entre 1 mil e 10 mil exibições nos logs. Quase nenhum tem menos de 100.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278257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2887982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Distributional shift moderado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18262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ação possível tem evidência nos dados. Um CQL com α baixo pode bastar, e há menos espaço para extrapolar valores.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3818889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39243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cenário favorável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218939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Esses vídeos estão no topo da cauda longa. Num catálogo real, os itens raros também seriam ações possíveis.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VIÉS DE EXPOSIÇÃO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logs estimam bem a qualidade de cada item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10566400" cy="3651250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/>
        </p:spPr>
      </p:sp>
      <p:pic>
        <p:nvPicPr>
          <p:cNvPr id="5" name="Image 0" descr="À esquerda, watch ratio médio real e observado por decil de popularidade; à direita, dispersão das médias por item nos logs contra a small matrix, com Spearman 0,98">    </p:cNvPr>
          <p:cNvPicPr>
            <a:picLocks noChangeAspect="1"/>
          </p:cNvPicPr>
          <p:nvPr/>
        </p:nvPicPr>
        <p:blipFill>
          <a:blip r:embed="rId1"/>
          <a:srcRect l="-100" r="-100" t="0" b="0"/>
          <a:stretch/>
        </p:blipFill>
        <p:spPr>
          <a:xfrm>
            <a:off x="819150" y="1746250"/>
            <a:ext cx="10553700" cy="3638550"/>
          </a:xfrm>
          <a:prstGeom prst="roundRect">
            <a:avLst>
              <a:gd name="adj" fmla="val 261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10560050" cy="3644900"/>
          </a:xfrm>
          <a:prstGeom prst="roundRect">
            <a:avLst>
              <a:gd name="adj" fmla="val 2700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54355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qualidade real quase não muda com a popularidade, e os logs a superestimam levemente. Item a item, logs e small matrix têm Spearman de 0,98: o desafio está em acertar o vídeo para cada usuário.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SESSÕES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1379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vale entre 30 min e 2 h separa naturalmente as sessões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588000" cy="37465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pic>
        <p:nvPicPr>
          <p:cNvPr id="5" name="Image 0" descr="Histograma do intervalo entre interações consecutivas em escala log de minutos, com pico entre 1 e 10 minutos, vale entre 30 e 100 minutos e um segundo pico perto de 1.000 minutos; linhas tracejadas em 30, 60 e 180 minu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028" y="1746250"/>
            <a:ext cx="5515543" cy="3733800"/>
          </a:xfrm>
          <a:custGeom>
            <a:avLst/>
            <a:gdLst/>
            <a:ahLst/>
            <a:cxnLst/>
            <a:rect l="l" t="t" r="r" b="b"/>
            <a:pathLst>
              <a:path w="5515543" h="3733800">
                <a:moveTo>
                  <a:pt x="0" y="25974"/>
                </a:moveTo>
                <a:arcTo wR="95250" hR="95250" stAng="13599650" swAng="2600350"/>
                <a:lnTo>
                  <a:pt x="5450172" y="0"/>
                </a:lnTo>
                <a:arcTo wR="95250" hR="95250" stAng="16200000" swAng="2600350"/>
                <a:lnTo>
                  <a:pt x="5515543" y="3707826"/>
                </a:lnTo>
                <a:arcTo wR="95250" hR="95250" stAng="2799650" swAng="2600350"/>
                <a:lnTo>
                  <a:pt x="65372" y="3733800"/>
                </a:lnTo>
                <a:arcTo wR="95250" hR="95250" stAng="5400000" swAng="2600350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5581650" cy="37401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174625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1851661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Dentro da sessão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146300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maioria das interações consecutivas acontece com 0,1 a 10 minutos de intervalo, com pico perto de 2 minutos.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278257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2887982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 sessões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18262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segundo pico perto de 1.000 minutos corresponde à volta no dia seguinte.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3818889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39243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corte de 60 min se confirma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218942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linhas tracejadas (30, 60 e 180 min) caem no vale entre os dois picos. O corte do pipeline está bem posicionado.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SESSÕES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4"/>
            <a:ext cx="1046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episódios vão de 1 a milhares de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588000" cy="37465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pic>
        <p:nvPicPr>
          <p:cNvPr id="5" name="Image 0" descr="Histograma do tamanho das sessões em escala log para cortes de 30, 60 e 180 minutos; muitas sessões de 1 passo nos cortes menores e cauda que passa de mil pas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387" y="1746250"/>
            <a:ext cx="5292825" cy="3733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5581650" cy="37401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174625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1851664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Muitas sessões de 1 passo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146300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cortes de 30 ou 60 min, as sessões mais comuns têm um único vídeo. Elas não trazem sinal sequencial.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278257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2887979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Cauda muito longa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18262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Algumas sessões passam de 1.000 passos, bem além do horizonte efetivo de ~10 passos que γ = 0,9 enxerga.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3818892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39243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Ajuste sugerido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218942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Descartar sessões de 1 passo (ou tratá-las como bandit) e quebrar as muito longas em janelas para o simulador.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TEMPO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dados vêm em três ondas, com pico pela manhã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10566400" cy="3263900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/>
        </p:spPr>
      </p:sp>
      <p:pic>
        <p:nvPicPr>
          <p:cNvPr id="5" name="Image 0" descr="Interações por dia entre julho e setembro de 2020, em três ondas com períodos quase sem registros, e interações por hora do dia com pico por volta das 10 h (UTC+8)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819150" y="1746250"/>
            <a:ext cx="10553700" cy="3251200"/>
          </a:xfrm>
          <a:prstGeom prst="roundRect">
            <a:avLst>
              <a:gd name="adj" fmla="val 293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10560050" cy="3257550"/>
          </a:xfrm>
          <a:prstGeom prst="roundRect">
            <a:avLst>
              <a:gd name="adj" fmla="val 3021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15620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Coleta entre julho e setembro de 2020 em três ondas, com períodos quase sem registros entre elas. A atividade é máxima por volta das 10 h (UTC+8). Para validar, divida os dados por tempo respeitando as ondas; a hora do dia pode entrar no estado.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· CATEGORIAS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4"/>
            <a:ext cx="1046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Quatro categorias somam quase metade das exibições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588000" cy="37465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pic>
        <p:nvPicPr>
          <p:cNvPr id="5" name="Image 0" descr="Barras horizontais com a fração das interações das 15 categorias mais exibidas; a categoria 28 lidera com cerca de 17,5%, seguida das categorias 8, 11 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966" y="1746250"/>
            <a:ext cx="5207668" cy="3733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5581650" cy="37401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174625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1851664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categoria domina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146300"/>
            <a:ext cx="476148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categoria 28 sozinha responde por cerca de 17,5% das interações. Com as categorias 8, 11 e 6, o total chega perto de 48%.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2995929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3101342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Viés herdado do sistema antigo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395979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política que imita os logs tende a concentrar recomendações nessas mesmas categorias.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403225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4137664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Acompanhar a diversidade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432300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entropia de categorias, já calculada no pipeline, deve ser reportada junto do retorno de cada política.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· CATEGORIAS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4"/>
            <a:ext cx="1046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fadiga aparece, mas só com muita repetição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588000" cy="37465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pic>
        <p:nvPicPr>
          <p:cNvPr id="5" name="Image 0" descr="Watch ratio relativo à média do usuário na categoria contra o número de itens da mesma categoria nas últimas 10 interações; próximo de zero até 6 repetições e caindo para cerca de menos 0,08 com 9 repetições">    </p:cNvPr>
          <p:cNvPicPr>
            <a:picLocks noChangeAspect="1"/>
          </p:cNvPicPr>
          <p:nvPr/>
        </p:nvPicPr>
        <p:blipFill>
          <a:blip r:embed="rId1"/>
          <a:srcRect l="0" r="0" t="-228" b="-228"/>
          <a:stretch/>
        </p:blipFill>
        <p:spPr>
          <a:xfrm>
            <a:off x="819150" y="1746250"/>
            <a:ext cx="5575300" cy="3733800"/>
          </a:xfrm>
          <a:prstGeom prst="roundRect">
            <a:avLst>
              <a:gd name="adj" fmla="val 2551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5581650" cy="37401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174625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1851664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efeito até 6 de 10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146300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até 6 vídeos da mesma categoria nas últimas 10 interações, o watch ratio fica na média do usuário.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278257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2887979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Queda pequena a partir de 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18262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Chega a cerca de −0,08 com 9 repetições. Há poucos casos nesse extremo e o efeito é observacional, não causal.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3818892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39243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simulador exagera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218942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atual faz o usuário sair com 4 repetições em 10. Os dados sugerem um limiar perto de 7, ou uma penalidade gradual.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MUDA NA MODELAGEM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cada achado, uma decisão no pipeline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50060"/>
          <a:ext cx="10556240" cy="2971800"/>
        </p:xfrm>
        <a:graphic>
          <a:graphicData uri="http://schemas.openxmlformats.org/drawingml/2006/table">
            <a:tbl>
              <a:tblPr/>
              <a:tblGrid>
                <a:gridCol w="4433621"/>
                <a:gridCol w="6122619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Achado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Decisão no pipeline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Watch ratio cai com a duração do vídeo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Mudar: normalizar a recompensa por faixa de duração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Cauda acima de 2 e replays em loop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Manter o corte da recompensa em 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Itens da small matrix bem cobertos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Testar α baixo no CQL; registrar que o benchmark é favorável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Logs estimam bem a média de cada item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Avaliar sobretudo a personalização, não a qualidade do item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Vale entre 30 min e 2 h nos intervalos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Manter o corte de sessão em 60 min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Sessões de 1 a milhares de passos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Mudar: descartar sessões de 1 passo; janelas nas muito longas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Coleta em três ondas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Mudar: validação com divisão temporal entre as ondas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Fadiga só com 7 ou mais repetições em 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Mudar: recalibrar a regra de abandono do simulador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0566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23821"/>
            <a:ext cx="1046480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Antes de treinar de novo: </a:t>
            </a:r>
            <a:r>
              <a:rPr lang="en-US" sz="3600" b="1" i="0" dirty="0">
                <a:solidFill>
                  <a:srgbClr val="F08A4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ajustar a recompensa</a:t>
            </a:r>
            <a:r>
              <a:rPr lang="en-US" sz="36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 </a:t>
            </a:r>
            <a:r>
              <a:rPr lang="en-US" sz="3600" b="1" i="0" dirty="0">
                <a:solidFill>
                  <a:srgbClr val="F08A4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calibrar o simulador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025900"/>
            <a:ext cx="98107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algoritmos continuam os mesmos. O que muda são as decisões de modelagem que a EDA justificou.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A do KuaiRec">
  <a:themeElements>
    <a:clrScheme name="EDA do KuaiRec">
      <a:dk1>
        <a:srgbClr val="14213D"/>
      </a:dk1>
      <a:lt1>
        <a:srgbClr val="F7F5F0"/>
      </a:lt1>
      <a:dk2>
        <a:srgbClr val="4D566A"/>
      </a:dk2>
      <a:lt2>
        <a:srgbClr val="E0E0DE"/>
      </a:lt2>
      <a:accent1>
        <a:srgbClr val="B4501F"/>
      </a:accent1>
      <a:accent2>
        <a:srgbClr val="F08A4B"/>
      </a:accent2>
      <a:accent3>
        <a:srgbClr val="4A5568"/>
      </a:accent3>
      <a:accent4>
        <a:srgbClr val="C9D1E0"/>
      </a:accent4>
      <a:accent5>
        <a:srgbClr val="9AA6BD"/>
      </a:accent5>
      <a:accent6>
        <a:srgbClr val="9AA0A6"/>
      </a:accent6>
      <a:hlink>
        <a:srgbClr val="0563C1"/>
      </a:hlink>
      <a:folHlink>
        <a:srgbClr val="954F72"/>
      </a:folHlink>
    </a:clrScheme>
    <a:fontScheme name="EDA do KuaiRec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do KuaiRec</dc:title>
  <dc:subject/>
  <dc:creator/>
  <cp:lastModifiedBy/>
  <cp:revision>1</cp:revision>
  <dcterms:created xsi:type="dcterms:W3CDTF">2026-10-13T18:06:02Z</dcterms:created>
  <dcterms:modified xsi:type="dcterms:W3CDTF">2026-10-13T18:06:02Z</dcterms:modified>
</cp:coreProperties>
</file>