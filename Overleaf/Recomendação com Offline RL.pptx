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apresentação descreve o problema que o projeto resolve: recomendar vídeos curtos pensando no engajamento da sessão inteira, e não só no próximo clique, usando apenas logs históricos.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Kuaishou é um app de vídeos curtos no estilo do TikTok. A cada deslizada o sistema precisa escolher o próximo vídeo entre milhares de opções. A meta da empresa é o engajamento ao longo da sessão inteira, e voltar depois. Gostar de um vídeo e ficar na sessão são metas que podem entrar em conflito.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Estratégia gulosa: como culinária tem a maior chance de agradar, mostra só culinária. Os primeiros vídeos rendem muito, mas por volta do oitavo a Ana enjoa e fecha o app. Estratégia de longo prazo: intercala culinária com viagem e humor. Cada vídeo isolado agrada um pouco menos, mas a Ana fica cerca de 30 vídeos no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recomendador supervisionado aprende a prever o próximo vídeo e tende à estratégia gulosa. O RL otimiza a soma das recompensas futuras e pode descobrir a de longo prazo. Foi o que vimos: o BC teve a maior recompensa por vídeo, mas sessões de cerca de 8 passos; o CQL aceitou recompensas individuais menores e manteve as sessões até o fim. Lembrar que são dados sintéticos.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jeito mais direto seria testar políticas com usuários reais e observar. Isso é caro e arriscado. O que temos é um histórico de logs gerado pelo recomendador antigo. A tarefa é aprender uma política melhor usando só esse histórico.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dificuldade: só conhecemos a reação aos vídeos que o sistema antigo mostrou. Sem proteção, o DQN chegou a estimar valores acima do máximo teórico. Segunda: o efeito de cansaço só aparece indiretamente nos dados. Terceira: sem testar com usuários, precisamos de avaliação off-policy e, no KuaiRec, da matriz densa para construir um simulador.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tradução do problema para um processo de decisão de Markov. O estado é a janela recente do usuário, a ação é o próximo vídeo, a recompensa é o watch ratio, o episódio é a sessão, e o objetivo é a soma descontada das recompensas com gama 0,9.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pergunta que o projeto responde. A primeira parte é sobre aprendizado: superar a imitação do comportamento passado. A segunda é sobre avaliação: confiar no resultado sem teste A/B.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56360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86940"/>
            <a:ext cx="10566400" cy="385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56360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86940"/>
            <a:ext cx="10566400" cy="385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510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F08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OFFLINE REINFORCEMENT LEARNING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89480"/>
            <a:ext cx="9810750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Recomendação de vídeos que engaja a sessão inteira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843780"/>
            <a:ext cx="91567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 aprender, só com dados históricos, qual vídeo mostrar a seguir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62382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Estudo de caso com o dataset público KuaiRec (Kuaishou)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SITUAÇÃO REAL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81760"/>
            <a:ext cx="9810750" cy="1076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cada deslizada, o app decide qual vídeo mostrar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893695"/>
            <a:ext cx="2142490" cy="918210"/>
          </a:xfrm>
          <a:prstGeom prst="roundRect">
            <a:avLst>
              <a:gd name="adj" fmla="val 1071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3098800"/>
            <a:ext cx="178424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Abre o 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1080" y="3393440"/>
            <a:ext cx="17842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Recebe o primeiro vídeo</a:t>
            </a:r>
            <a:endParaRPr lang="en-US" sz="1200" dirty="0"/>
          </a:p>
        </p:txBody>
      </p:sp>
      <p:pic>
        <p:nvPicPr>
          <p:cNvPr id="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14040" y="3314700"/>
            <a:ext cx="355600" cy="7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25215" y="2893695"/>
            <a:ext cx="2142490" cy="918210"/>
          </a:xfrm>
          <a:prstGeom prst="roundRect">
            <a:avLst>
              <a:gd name="adj" fmla="val 1071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30320" y="3098800"/>
            <a:ext cx="178424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Assiste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30320" y="3393440"/>
            <a:ext cx="17842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parte ou até o fim</a:t>
            </a:r>
            <a:endParaRPr lang="en-US" sz="1200" dirty="0"/>
          </a:p>
        </p:txBody>
      </p:sp>
      <p:pic>
        <p:nvPicPr>
          <p:cNvPr id="11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23280" y="3314700"/>
            <a:ext cx="355600" cy="76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31280" y="2788920"/>
            <a:ext cx="2138680" cy="1127760"/>
          </a:xfrm>
          <a:prstGeom prst="roundRect">
            <a:avLst>
              <a:gd name="adj" fmla="val 9009"/>
            </a:avLst>
          </a:prstGeom>
          <a:solidFill>
            <a:srgbClr val="14213D"/>
          </a:solidFill>
          <a:ln/>
        </p:spPr>
      </p:sp>
      <p:sp>
        <p:nvSpPr>
          <p:cNvPr id="13" name="Text 9"/>
          <p:cNvSpPr/>
          <p:nvPr/>
        </p:nvSpPr>
        <p:spPr>
          <a:xfrm>
            <a:off x="6634480" y="2992120"/>
            <a:ext cx="178424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Desliza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34480" y="3286760"/>
            <a:ext cx="178424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sistema escolhe o próximo entre milhares</a:t>
            </a:r>
            <a:endParaRPr lang="en-US" sz="1200" dirty="0"/>
          </a:p>
        </p:txBody>
      </p:sp>
      <p:pic>
        <p:nvPicPr>
          <p:cNvPr id="15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22360" y="3314700"/>
            <a:ext cx="355600" cy="762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233535" y="2893695"/>
            <a:ext cx="2142490" cy="918210"/>
          </a:xfrm>
          <a:prstGeom prst="roundRect">
            <a:avLst>
              <a:gd name="adj" fmla="val 1071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438640" y="3098800"/>
            <a:ext cx="178424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Fecha o app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438640" y="3393440"/>
            <a:ext cx="17842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Fim da sessão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12800" y="5318760"/>
            <a:ext cx="981075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objetivo não é que o usuário goste de </a:t>
            </a:r>
            <a:r>
              <a:rPr lang="en-US" sz="2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</a:t>
            </a:r>
            <a:r>
              <a:rPr lang="en-US" sz="2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vídeo, e sim que ele </a:t>
            </a:r>
            <a:r>
              <a:rPr lang="en-US" sz="220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permaneça engajado durante a sessão inteira</a:t>
            </a:r>
            <a:r>
              <a:rPr lang="en-US" sz="2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EXEMPLO CONCRETO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6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Ana adora vídeos de culinária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64716"/>
            <a:ext cx="10560050" cy="1253490"/>
          </a:xfrm>
          <a:prstGeom prst="roundRect">
            <a:avLst>
              <a:gd name="adj" fmla="val 7852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448561"/>
            <a:ext cx="807359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Estratégia gulosa: sempre o mais provável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1880" y="2819400"/>
            <a:ext cx="807323" cy="314960"/>
          </a:xfrm>
          <a:prstGeom prst="roundRect">
            <a:avLst>
              <a:gd name="adj" fmla="val 50000"/>
            </a:avLst>
          </a:prstGeom>
          <a:solidFill>
            <a:srgbClr val="F3D3B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Culinária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55403" y="2819400"/>
            <a:ext cx="807323" cy="314960"/>
          </a:xfrm>
          <a:prstGeom prst="roundRect">
            <a:avLst>
              <a:gd name="adj" fmla="val 50000"/>
            </a:avLst>
          </a:prstGeom>
          <a:solidFill>
            <a:srgbClr val="F3D3B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Culinária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8926" y="2819400"/>
            <a:ext cx="807323" cy="314960"/>
          </a:xfrm>
          <a:prstGeom prst="roundRect">
            <a:avLst>
              <a:gd name="adj" fmla="val 50000"/>
            </a:avLst>
          </a:prstGeom>
          <a:solidFill>
            <a:srgbClr val="F3D3B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Culinária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22450" y="2819400"/>
            <a:ext cx="807323" cy="314960"/>
          </a:xfrm>
          <a:prstGeom prst="roundRect">
            <a:avLst>
              <a:gd name="adj" fmla="val 50000"/>
            </a:avLst>
          </a:prstGeom>
          <a:solidFill>
            <a:srgbClr val="F3D3B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Culinária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05973" y="2819400"/>
            <a:ext cx="807323" cy="314960"/>
          </a:xfrm>
          <a:prstGeom prst="roundRect">
            <a:avLst>
              <a:gd name="adj" fmla="val 50000"/>
            </a:avLst>
          </a:prstGeom>
          <a:solidFill>
            <a:srgbClr val="F3D3B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Culinária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9496" y="2870200"/>
            <a:ext cx="17778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… enjoa e fecha o app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215120" y="2420620"/>
            <a:ext cx="196215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215120" y="2948941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vídeos na sessão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975" y="3729355"/>
            <a:ext cx="10560050" cy="1253490"/>
          </a:xfrm>
          <a:prstGeom prst="roundRect">
            <a:avLst>
              <a:gd name="adj" fmla="val 7852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880" y="4013200"/>
            <a:ext cx="807359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Estratégia de longo prazo: variar com intenção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1880" y="4384041"/>
            <a:ext cx="807323" cy="314960"/>
          </a:xfrm>
          <a:prstGeom prst="roundRect">
            <a:avLst>
              <a:gd name="adj" fmla="val 50000"/>
            </a:avLst>
          </a:prstGeom>
          <a:solidFill>
            <a:srgbClr val="F3D3B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Culinária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55403" y="4384041"/>
            <a:ext cx="711835" cy="314960"/>
          </a:xfrm>
          <a:prstGeom prst="roundRect">
            <a:avLst>
              <a:gd name="adj" fmla="val 50000"/>
            </a:avLst>
          </a:prstGeom>
          <a:solidFill>
            <a:srgbClr val="CFDD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Viagem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438" y="4384041"/>
            <a:ext cx="807323" cy="314960"/>
          </a:xfrm>
          <a:prstGeom prst="roundRect">
            <a:avLst>
              <a:gd name="adj" fmla="val 50000"/>
            </a:avLst>
          </a:prstGeom>
          <a:solidFill>
            <a:srgbClr val="F3D3B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Culinária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26961" y="4384041"/>
            <a:ext cx="671830" cy="314960"/>
          </a:xfrm>
          <a:prstGeom prst="roundRect">
            <a:avLst>
              <a:gd name="adj" fmla="val 50000"/>
            </a:avLst>
          </a:prstGeom>
          <a:solidFill>
            <a:srgbClr val="CFDD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74991" y="4384041"/>
            <a:ext cx="807323" cy="314960"/>
          </a:xfrm>
          <a:prstGeom prst="roundRect">
            <a:avLst>
              <a:gd name="adj" fmla="val 50000"/>
            </a:avLst>
          </a:prstGeom>
          <a:solidFill>
            <a:srgbClr val="F3D3B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Culinária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8514" y="4434841"/>
            <a:ext cx="19197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… e continua assistindo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15120" y="3985261"/>
            <a:ext cx="196215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2F6FB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30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215120" y="4513580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vídeos na sessão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529082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vídeo isolado agrada um pouco menos, mas o tempo total assistido é muito maior.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DUAS FORMAS DE APRENDER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6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Prever o próximo clique ou otimizar a sessão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64716"/>
            <a:ext cx="5180330" cy="2228850"/>
          </a:xfrm>
          <a:prstGeom prst="roundRect">
            <a:avLst>
              <a:gd name="adj" fmla="val 441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420620"/>
            <a:ext cx="48085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Recomendador supervisionado (BC)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1880" y="2816861"/>
            <a:ext cx="48085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Pergunta: qual vídeo a Ana tem mais chance de assistir agora? Tende à estratégia gulosa.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1880" y="3395980"/>
            <a:ext cx="1570117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0,73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71880" y="3924300"/>
            <a:ext cx="17733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recompensa por vídeo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45197" y="3395980"/>
            <a:ext cx="1269286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8,5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845197" y="3924300"/>
            <a:ext cx="14621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vídeos por sessão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02680" y="2161541"/>
            <a:ext cx="5176520" cy="2235200"/>
          </a:xfrm>
          <a:prstGeom prst="roundRect">
            <a:avLst>
              <a:gd name="adj" fmla="val 4545"/>
            </a:avLst>
          </a:prstGeom>
          <a:solidFill>
            <a:srgbClr val="14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6456680" y="2415541"/>
            <a:ext cx="48085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Aprendizado por reforço (CQL)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56680" y="2811780"/>
            <a:ext cx="48085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Pergunta: que sequência mantém a Ana engajada até o fim? Otimiza a soma das recompensas futuras.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56680" y="3390900"/>
            <a:ext cx="1570117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0,56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56680" y="3919220"/>
            <a:ext cx="17733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recompensa por vídeo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997" y="3390900"/>
            <a:ext cx="1269286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08A4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29,9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229997" y="3919220"/>
            <a:ext cx="14621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vídeos por sessão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4701541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Resultado: o retorno acumulado por sessão sobe de 6,1 (BC) para 16,6 (CQL).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validado em dados sintéticos no formato do KuaiRec, uma semente. Números ilustrativos, não conclusões sobre o dataset real.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45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351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BE3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QUE PRECISA SER OFFLINE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054861"/>
            <a:ext cx="9810750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Testar políticas com usuários reais é caro e arriscado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2800" y="3808732"/>
            <a:ext cx="3251200" cy="0"/>
          </a:xfrm>
          <a:prstGeom prst="line">
            <a:avLst/>
          </a:prstGeom>
          <a:noFill/>
          <a:ln w="12700">
            <a:solidFill>
              <a:srgbClr val="F3C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3964939"/>
            <a:ext cx="334873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risco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284982"/>
            <a:ext cx="3348736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BE3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política ruim afasta usuários de verdade, e cada teste A/B leva semanas.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70400" y="3808732"/>
            <a:ext cx="3251200" cy="0"/>
          </a:xfrm>
          <a:prstGeom prst="line">
            <a:avLst/>
          </a:prstGeom>
          <a:noFill/>
          <a:ln w="12700">
            <a:solidFill>
              <a:srgbClr val="F3C2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70400" y="3964939"/>
            <a:ext cx="334873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existe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70400" y="4284982"/>
            <a:ext cx="3348736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BE3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Milhões de registros: "o usuário X viu o vídeo Y e assistiu Z% dele", gerados pelo recomendador em produção.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0" y="3808732"/>
            <a:ext cx="3251200" cy="0"/>
          </a:xfrm>
          <a:prstGeom prst="line">
            <a:avLst/>
          </a:prstGeom>
          <a:noFill/>
          <a:ln w="12700">
            <a:solidFill>
              <a:srgbClr val="F3C2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0" y="3964939"/>
            <a:ext cx="334873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tarefa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0" y="4284982"/>
            <a:ext cx="3348736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BE3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Aprender uma política melhor usando só esse histórico, sem testar nada ao vivo.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TORNA O PROBLEMA DIFÍCIL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8176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Três dificuldades centrais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66314"/>
            <a:ext cx="3380264" cy="3211830"/>
          </a:xfrm>
          <a:prstGeom prst="roundRect">
            <a:avLst>
              <a:gd name="adj" fmla="val 306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522221"/>
            <a:ext cx="2954507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0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1880" y="3040382"/>
            <a:ext cx="295450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sabemos o que foi mostrado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1880" y="3675382"/>
            <a:ext cx="2954507" cy="157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a Ana nunca viu jardinagem, não sabemos se gostaria. Um algoritmo ingênuo "imagina" que esses vídeos são ótimos por falta de dados: é o </a:t>
            </a: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distributional shift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O CQL combate isso sendo conservador com ações pouco vistas.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5789" y="2266314"/>
            <a:ext cx="3380343" cy="3211830"/>
          </a:xfrm>
          <a:prstGeom prst="roundRect">
            <a:avLst>
              <a:gd name="adj" fmla="val 306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1694" y="2522221"/>
            <a:ext cx="295458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0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61694" y="3040382"/>
            <a:ext cx="295458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longo prazo é difícil de enxergar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1694" y="3675382"/>
            <a:ext cx="2954589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cansaço da Ana aparece nos logs só de forma indireta: o watch ratio cai quando a mesma categoria se repete. O algoritmo precisa inferir essa dinâmica a partir de sequências.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95682" y="2266314"/>
            <a:ext cx="3380343" cy="3211830"/>
          </a:xfrm>
          <a:prstGeom prst="roundRect">
            <a:avLst>
              <a:gd name="adj" fmla="val 306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1587" y="2522221"/>
            <a:ext cx="295458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0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1587" y="3040382"/>
            <a:ext cx="295458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dá para medir com certeza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51587" y="3675382"/>
            <a:ext cx="2954589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usuários reais, como saber se a política nova é melhor? Entram a avaliação off-policy (FQE) e a small matrix do KuaiRec, que permite um simulador confiável.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FORMULAÇÃO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6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 problema real ao MDP implementado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71699"/>
          <a:ext cx="10556240" cy="2550160"/>
        </p:xfrm>
        <a:graphic>
          <a:graphicData uri="http://schemas.openxmlformats.org/drawingml/2006/table">
            <a:tbl>
              <a:tblPr/>
              <a:tblGrid>
                <a:gridCol w="1900123"/>
                <a:gridCol w="3589122"/>
                <a:gridCol w="5066995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Elemento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problema real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código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Estado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que sabemos sobre o momento do usuário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Últimos 10 vídeos vistos e quanto de cada um foi assistido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Ação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Qual vídeo mostrar agora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Um dos cerca de 3.300 vídeos da small matrix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Recompensa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Quanto o usuário gostou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Watch ratio do vídeo, limitado a 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Episódio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Uma visita ao app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Uma sessão; termina após 1 h sem atividade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Objetivo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Engajamento total na sessão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Maximizar a soma descontada das recompensas (γ = 0,9)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3863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8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PERGUNTA DO PROJETO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256789"/>
            <a:ext cx="10464800" cy="221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Usando só logs históricos, é possível aprender uma política que gere </a:t>
            </a:r>
            <a:r>
              <a:rPr lang="en-US" sz="3600" b="1" i="0" dirty="0">
                <a:solidFill>
                  <a:srgbClr val="F08A4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mais engajamento por sessão</a:t>
            </a:r>
            <a:r>
              <a:rPr lang="en-US" sz="3600" b="1" i="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do que imitar o passado?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4756150"/>
            <a:ext cx="981075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conseguimos saber disso sem testar com usuários reais?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omendação com Offline RL">
  <a:themeElements>
    <a:clrScheme name="Recomendação com Offline RL">
      <a:dk1>
        <a:srgbClr val="14213D"/>
      </a:dk1>
      <a:lt1>
        <a:srgbClr val="F7F5F0"/>
      </a:lt1>
      <a:dk2>
        <a:srgbClr val="4D566A"/>
      </a:dk2>
      <a:lt2>
        <a:srgbClr val="E0E0DE"/>
      </a:lt2>
      <a:accent1>
        <a:srgbClr val="B4501F"/>
      </a:accent1>
      <a:accent2>
        <a:srgbClr val="F3D3BF"/>
      </a:accent2>
      <a:accent3>
        <a:srgbClr val="F08A4B"/>
      </a:accent3>
      <a:accent4>
        <a:srgbClr val="FBE3D3"/>
      </a:accent4>
      <a:accent5>
        <a:srgbClr val="2F6FB5"/>
      </a:accent5>
      <a:accent6>
        <a:srgbClr val="4A5568"/>
      </a:accent6>
      <a:hlink>
        <a:srgbClr val="0563C1"/>
      </a:hlink>
      <a:folHlink>
        <a:srgbClr val="954F72"/>
      </a:folHlink>
    </a:clrScheme>
    <a:fontScheme name="Recomendação com Offline RL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Recomendação com Offline RL</dc:title>
  <dc:subject/>
  <dc:creator/>
  <cp:lastModifiedBy/>
  <cp:revision>1</cp:revision>
  <dcterms:created xsi:type="dcterms:W3CDTF">2026-10-13T17:42:52Z</dcterms:created>
  <dcterms:modified xsi:type="dcterms:W3CDTF">2026-10-13T17:42:52Z</dcterms:modified>
</cp:coreProperties>
</file>