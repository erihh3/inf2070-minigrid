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 min (apresentação completa: 20 a 25 min, mais perguntas). OBJETIVO: situar o público e dizer o que ele vai levar. COMO APRESENTAR: Apresente-se e diga o problema em uma frase: "queremos aprender a recomendar vídeos usando só dados históricos, e o CQL resolve o principal risco disso". Antecipe o roteiro: por que o Q-learning falha offline, a ideia do CQL, a implementação, como ajustar α e quando usar. DICA: para público não técnico, os slides 6 (logsumexp) e 10 (código) podem ser passados rapidamente. TRANSIÇÃO: "Para entender o CQL, primeiro precisamos lembrar o que o Q-learning faz."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1,5 min. OBJETIVO: nivelar o público no Q-learning. COMO APRESENTAR: Leia os três cartões da esquerda de cima para baixo: o que é Q, o alvo de Bellman e a política. Para público não técnico, use a analogia: Q é a "nota" que o sistema dá a cada vídeo naquele momento, pensando no resto da sessão, e a política recomenda o vídeo de maior nota. Depois aponte o cartão escuro: no nosso caso, a rede recebe os últimos 10 vídeos e devolve uma nota para cada um dos cerca de 3.300 vídeos. DESTAQUE: aponte o "max" no alvo de Bellman e diga: "guardem esse max, ele é o vilão do próximo slide". SE PERGUNTAREM "por que γ = 0,9?": dá um horizonte efetivo de cerca de 10 vídeos, compatível com o tamanho das sessões. TRANSIÇÃO: "Online, esse max funciona bem. Offline, ele vira um problema."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 min. OBJETIVO: fazer o público sentir o distributional shift, o problema central do Offline RL. COMO APRESENTAR: Explique a legenda primeiro: barras escuras são vídeos com dados nos logs; barras tracejadas são vídeos nunca mostrados nesse contexto. Percorra o gráfico: A, B, C e E têm evidência; D, F, G e H são chutes da rede. Pergunte ao público: "qual vídeo o Q-learning escolhe?". Espere a resposta: H, justamente o maior chute. Depois leia os três blocos da direita em ordem: extrapolação, o max favorece o erro, nada corrige. DESTAQUE: o número real do nosso teste sintético: o DQN se avaliou em 22,8, acima do teto possível de 20 (recompensa máxima 2 dividida por 1 − 0,9). Deixe claro que os valores das barras são ilustrativos. SE PERGUNTAREM "e se a rede chutasse para baixo?": o erro para baixo não é escolhido pelo argmax, por isso só o erro para cima se acumula. TRANSIÇÃO: "Então, como impedir que a política confie nesses chutes?"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 min. OBJETIVO: entregar a intuição em uma frase, antes da matemática. COMO APRESENTAR: Faça uma pausa no título e repita em voz alta: "ser pessimista onde não há dados". Explique as duas forças com gestos: a mão descendo para "todas as ações" e subindo para "as ações dos dados". Conclua com o terceiro bloco: quem tem dados fica onde está; quem não tem perde valor. DICA: para público não técnico, este é o slide mais importante. Se o tempo estiver curto, resuma os slides 5 e 6 em uma frase e vá direto ao slide 7. TRANSIÇÃO: "Vamos ver como essa ideia vira uma função de perda."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 min. OBJETIVO: ligar cada termo da fórmula à intuição do slide anterior. COMO APRESENTAR: Leia a fórmula da esquerda para a direita e, ao mesmo tempo, aponte o cartão correspondente: TD é o DQN de sempre; logsumexp é a força para baixo; menos Q da ação dos dados é a força para cima; α é o peso do conservadorismo. Reforce o título: é uma linha a mais que o DQN. DESTAQUE: termine definindo o "gap" (o termo entre colchetes), porque ele aparece nos gráficos, nos logs de treino e no código. SE PERGUNTAREM "por que não usar o max em vez do logsumexp?": diga que o próximo slide responde exatamente isso. TRANSIÇÃO: "E por que justamente logsumexp?"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 min (pode ser reduzido a 30 s para público não técnico). OBJETIVO: mostrar que o logsumexp distribui a punição de forma inteligente. COMO APRESENTAR: Não leia a derivada símbolo por símbolo. Diga: "o gradiente do logsumexp é o softmax; então cada ação é empurrada para baixo na proporção do seu softmax, e a ação dos dados recebe um empurrão extra para cima". Depois percorra os três cartões: Q alto sem dados é empurrado com mais força (é o caso do vídeo H); a ação dos dados sobe; Q baixo quase não muda. Compare com o max: ele só puniria uma ação por vez, o logsumexp pune todas as suspeitas de forma proporcional. DESTAQUE: as duas curiosidades do rodapé servem para monitorar o treino: o gap nunca é negativo, e com todos os Q iguais ele vale log N, cerca de 8,1 para 3.300 vídeos. Nos nossos treinos ficou entre 5 e 6. TRANSIÇÃO: "Vamos ver o efeito disso no mesmo exemplo de antes."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1,5 min. OBJETIVO: fechar o arco visual do exemplo. COMO APRESENTAR: Lembre que é o mesmo estado do slide 3 e que os valores são ilustrativos. Compare os painéis lado a lado. Esquerda: igual ao slide 3, o DQN escolhe H. Direita: as barras tracejadas encolheram bastante, as escuras quase não mudaram (até subiram um pouco), e agora a escolha é B, o melhor vídeo com evidência. DESTAQUE: o CQL não proíbe ações sem dados; ele exige que elas sejam muito melhores para serem escolhidas. Isso é diferente de simplesmente imitar os logs. TRANSIÇÃO: "Quanto as barras encolhem? Isso depende de α."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 min. OBJETIVO: apresentar α como um botão entre otimismo e imitação. COMO APRESENTAR: Leia o espectro da esquerda para a direita: com α perto de zero o CQL vira DQN e herda o otimismo; com α muito grande, o único jeito de reduzir a perda é dar valor só à ação dos dados, e a política vira imitação (BC). No meio está o ponto útil. Depois vá para a tabela: aponte a coluna de concordância com o BC subindo (0 → 0,32 → 0,86 → 1) e o retorno no simulador caindo até o nível do BC. Destaque a linha em negrito, α = 0,1, a melhor nesse teste. CUIDADO: diga explicitamente que é um teste sintético, com uma semente e a regra de abandono antiga (rodapé). Não apresente como resultado do KuaiRec real. SE PERGUNTAREM "o DQN foi melhor que α = 1?": sim, porque os dados sintéticos têm boa cobertura; em dados reais com cauda longa o DQN tende a piorar. TRANSIÇÃO: "Agora, como tudo isso está implementado no nosso projeto."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1,5 min. OBJETIVO: mostrar a rede e os três detalhes de engenharia que completam o algoritmo. COMO APRESENTAR: Siga o fluxo das caixas da esquerda para a direita: o histórico de 10 vídeos com o watch ratio de cada um; cada vídeo vira um embedding de 64 dimensões; a GRU resume a sequência; a MLP produz um valor Q para cada vídeo do catálogo. Depois, uma frase por cartão de baixo: o Double DQN separa quem escolhe a ação de quem a avalia; a rede alvo suave estabiliza o treino; as máscaras tiram o padding do logsumexp e impedem recomendar o que o usuário acabou de ver. SE PERGUNTAREM "por que GRU e não Transformer?": simplicidade e custo em CPU. Trocar o encoder não muda nada no CQL, só na representação do estado. TRANSIÇÃO: "E como é um passo de treino, do começo ao fim."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 min (30 s para público não técnico). OBJETIVO: conectar a explicação ao código real do projeto. COMO APRESENTAR: Percorra a lista da esquerda rapidamente, sem ler cada item na íntegra. Depois aponte o código e destaque as duas linhas em laranja: o cálculo do gap e a soma dele na perda, ponderado por α. Diga: "essas duas linhas são toda a diferença entre o CQL e um Double DQN". Para público técnico, mostre a correspondência entre o passo 6 da lista e a linha do gap, e entre o passo 3 e a linha do a2. DICA: não leia o código linha a linha. O objetivo é mostrar que a mudança é pequena. O código é um trecho resumido da função train_cql do cql_discreto.py. TRANSIÇÃO: "Falta o mais difícil: escolher α sem poder testar com usuários."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 min. OBJETIVO: mostrar como α é escolhido sem simulador e quais são os limites dessa escolha. COMO APRESENTAR: Comece explicando a FQE em uma frase: "é um Q-learning que, em vez de procurar a melhor ação, avalia uma política fixa usando só os logs; no alvo, o max é trocado pela ação que a política escolheria". Diga que ela roda nas sessões mais recentes, que ficaram fora do treino. Depois compare os painéis: à esquerda, o que a FQE estima (escolheu α = 0,5, com 15,0 no simulador); à direita, a conferência no simulador (o melhor foi α = 0,01, com 16,2). DESTAQUE: a boa notícia é que todos os α superaram o BC e a Popularidade; a ruim é que a FQE errou a ordem fina entre eles. Lição: FQE para descartar candidatos ruins, não para ajuste fino; na dúvida, prefira um α intermediário entre os bem avaliados. SE PERGUNTAREM "como saber se a FQE é confiável?": calcule a FQE do BC e compare com o retorno real dos logs, já que o BC imita os logs. No teste deu 3,6 contra 5,4, sinal de que a FQE está descalibrada. TRANSIÇÃO: "Além da FQE, o próprio treino dá pistas."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1,5 min. OBJETIVO: ensinar o público a ler as curvas de Q durante o treino. COMO APRESENTAR: Aponte primeiro a linha tracejada do teto, cerca de 20 (recompensa máxima dividida por 1 − γ). Depois a curva azul de α = 0,01, que passa do teto no final: sinal claro de superestimação, ou seja, conservadorismo insuficiente. Compare com α = 0,5 e 1, que crescem devagar e ficam bem abaixo. Em seguida, leia os títulos dos três blocos da direita. DESTAQUE: sem ambiente para testar, os valores de Q são o termômetro do treino. Gap perto de zero indica que a política está só imitando; TD subindo sem parar indica instabilidade, que pede α maior ou learning rate menor. SE PERGUNTAREM "mas α = 0,01 não foi o melhor no simulador?": foi, nos dados sintéticos com boa cobertura. É justamente o tipo de configuração arriscada em dados reais, e por isso vale preferir um α intermediário. TRANSIÇÃO: "Alguns detalhes práticos fizeram diferença nos nossos resultados."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1,5 min. OBJETIVO: passar as lições aprendidas na implementação. COMO APRESENTAR: Um cartão por vez, uma ou duas frases cada. No cartão do Huber, conte como uma história real: "com Huber, o gradiente do TD fica limitado, o termo do CQL passa a dominar e os valores de Q inflam; encontramos isso no pipeline e resolvemos trocando por MSE". No cartão da escala de α, conecte com a EDA: como vamos normalizar a recompensa pela duração do vídeo, a varredura de α precisa ser refeita. No custo do logsumexp, diga que 3.300 vídeos é viável, mas catálogos de milhões exigem amostrar ações. Nas máscaras, reforce que as mesmas regras precisam valer no treino, na política e na avaliação. TRANSIÇÃO: "Juntando tudo: quando vale a pena usar o CQL?"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 min. OBJETIVO: fazer um balanço honesto do método. COMO APRESENTAR: Leia os títulos das duas colunas e comente um ou dois itens de cada lado, sem ler tudo. Sugestão: dos pontos fortes, a simplicidade (uma linha a mais que o DQN) e a garantia de errar para o lado seguro; das limitações, a sensibilidade a α. Observe em voz alta que quase todas as limitações giram em torno do mesmo hiperparâmetro. DESTAQUE: para o KuaiRec, que tem boa cobertura dos dados, o CQL é um ótimo ponto de partida. Vale compará-lo com o IQL discreto, que depende menos desse ajuste fino. TRANSIÇÃO: "Se for para lembrar de uma coisa desta apresentação..."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 min, depois perguntas. OBJETIVO: deixar a mensagem principal e abrir para perguntas. COMO APRESENTAR: Leia a frase do título devagar e faça uma pausa. Depois diga o próximo passo: rodar a varredura de α no KuaiRec real, com as correções da EDA (recompensa normalizada pela duração e simulador recalibrado), e comparar com o BC e com o IQL discreto. Mencione a referência do rodapé e abra para perguntas. PERGUNTAS PROVÁVEIS: "O CQL garante que a política é melhor que a dos logs?" Não. Ele garante que o valor estimado é conservador; se a política é melhor, precisa ser verificado com OPE ou teste. "Por que não testar direto com usuários?" Custo e risco: uma política ruim afasta usuários reais. Esse é o motivo de existir o Offline RL. "Qual a diferença para o BC?" O BC só imita os logs; o CQL usa a recompensa para melhorar a política, mas sem sair da região onde há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91262"/>
            <a:ext cx="10566400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05002"/>
            <a:ext cx="10566400" cy="414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91262"/>
            <a:ext cx="10566400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05002"/>
            <a:ext cx="10566400" cy="414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9898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spc="200" kern="0" dirty="0">
                <a:solidFill>
                  <a:srgbClr val="F08A4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OFFLINE REINFORCEMENT LEARNING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537460"/>
            <a:ext cx="9810750" cy="136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CQL discreto: aprender Q sem confiar no que não foi visto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4132580"/>
            <a:ext cx="915670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C9D1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Conservative Q-Learning explicado e aplicado à recomendação de vídeos no KuaiRec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623824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6B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Baseado em Kumar, Zhou, Tucker e Levine (NeurIPS 2020) e na implementação cql_discreto.py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PONTO DE PARTIDA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60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que o Q-learning aprende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895475"/>
            <a:ext cx="6191250" cy="908050"/>
          </a:xfrm>
          <a:prstGeom prst="roundRect">
            <a:avLst>
              <a:gd name="adj" fmla="val 10839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2075180"/>
            <a:ext cx="595447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Valor de uma ação: retorno esperado ao recomendar a no estado 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1080" y="2339340"/>
            <a:ext cx="5954471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Q(s, a)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5975" y="2962275"/>
            <a:ext cx="6191250" cy="908050"/>
          </a:xfrm>
          <a:prstGeom prst="roundRect">
            <a:avLst>
              <a:gd name="adj" fmla="val 10839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1080" y="3141980"/>
            <a:ext cx="595447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Alvo de Bellman: recompensa agora + melhor valor futuro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1080" y="3406140"/>
            <a:ext cx="5954471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y = r + γ · max</a:t>
            </a:r>
            <a:r>
              <a:rPr lang="en-US" sz="1600" dirty="0">
                <a:solidFill>
                  <a:srgbClr val="B450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ₐ'</a:t>
            </a:r>
            <a:r>
              <a:rPr lang="en-US" sz="16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Q(s', a')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5975" y="4029075"/>
            <a:ext cx="6191250" cy="908050"/>
          </a:xfrm>
          <a:prstGeom prst="roundRect">
            <a:avLst>
              <a:gd name="adj" fmla="val 10839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1080" y="4208780"/>
            <a:ext cx="595447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Política: escolher a ação de maior valor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21080" y="4472940"/>
            <a:ext cx="5954471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π(s) = argmax</a:t>
            </a:r>
            <a:r>
              <a:rPr lang="en-US" sz="1600" dirty="0">
                <a:solidFill>
                  <a:srgbClr val="B450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ₐ</a:t>
            </a:r>
            <a:r>
              <a:rPr lang="en-US" sz="16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Q(s, a)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0" y="1892300"/>
            <a:ext cx="4064000" cy="3434080"/>
          </a:xfrm>
          <a:prstGeom prst="roundRect">
            <a:avLst>
              <a:gd name="adj" fmla="val 2959"/>
            </a:avLst>
          </a:prstGeom>
          <a:solidFill>
            <a:srgbClr val="14213D"/>
          </a:solidFill>
          <a:ln/>
        </p:spPr>
      </p:sp>
      <p:sp>
        <p:nvSpPr>
          <p:cNvPr id="14" name="Text 12"/>
          <p:cNvSpPr/>
          <p:nvPr/>
        </p:nvSpPr>
        <p:spPr>
          <a:xfrm>
            <a:off x="7569200" y="2146300"/>
            <a:ext cx="366268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nosso problema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69200" y="2542540"/>
            <a:ext cx="3662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Estado 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69200" y="2794000"/>
            <a:ext cx="366268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 últimos 10 vídeos vistos e o watch ratio de cada um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69200" y="3373120"/>
            <a:ext cx="3662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Ação 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69200" y="3624580"/>
            <a:ext cx="3662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dos cerca de 3.300 vídeos da small matrix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69200" y="3990340"/>
            <a:ext cx="3662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Recompensa 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69200" y="4241800"/>
            <a:ext cx="3662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Watch ratio, normalizado pela duração do vídeo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69200" y="4607560"/>
            <a:ext cx="3662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Saída da rede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69200" y="4859020"/>
            <a:ext cx="3662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vetor Q(s, ·) com um valor para cada vídeo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61"/>
            <a:ext cx="113792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Offline, o max escolhe justamente o que nunca foi testado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844675"/>
            <a:ext cx="6534150" cy="3648710"/>
          </a:xfrm>
          <a:prstGeom prst="roundRect">
            <a:avLst>
              <a:gd name="adj" fmla="val 2698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1080" y="2080261"/>
            <a:ext cx="203200" cy="152400"/>
          </a:xfrm>
          <a:prstGeom prst="roundRect">
            <a:avLst>
              <a:gd name="adj" fmla="val 16667"/>
            </a:avLst>
          </a:prstGeom>
          <a:solidFill>
            <a:srgbClr val="14213D"/>
          </a:solidFill>
          <a:ln/>
        </p:spPr>
      </p:sp>
      <p:sp>
        <p:nvSpPr>
          <p:cNvPr id="6" name="Text 4"/>
          <p:cNvSpPr/>
          <p:nvPr/>
        </p:nvSpPr>
        <p:spPr>
          <a:xfrm>
            <a:off x="1427480" y="2049780"/>
            <a:ext cx="19748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Vídeo com dados nos logs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1855" y="2089786"/>
            <a:ext cx="184150" cy="133350"/>
          </a:xfrm>
          <a:prstGeom prst="roundRect">
            <a:avLst>
              <a:gd name="adj" fmla="val 11905"/>
            </a:avLst>
          </a:prstGeom>
          <a:solidFill>
            <a:srgbClr val="F6D5C2"/>
          </a:solidFill>
          <a:ln w="19050">
            <a:solidFill>
              <a:srgbClr val="B4501F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808730" y="2049780"/>
            <a:ext cx="243925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 dados: valor extrapolado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2694" y="3549650"/>
            <a:ext cx="2751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4,0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41730" y="3813811"/>
            <a:ext cx="457200" cy="844550"/>
          </a:xfrm>
          <a:custGeom>
            <a:avLst/>
            <a:gdLst/>
            <a:ahLst/>
            <a:cxnLst/>
            <a:rect l="l" t="t" r="r" b="b"/>
            <a:pathLst>
              <a:path w="457200" h="844550">
                <a:moveTo>
                  <a:pt x="38100" y="0"/>
                </a:moveTo>
                <a:lnTo>
                  <a:pt x="419100" y="0"/>
                </a:lnTo>
                <a:arcTo hR="38100" wR="38100" stAng="16200000" swAng="5400000"/>
                <a:lnTo>
                  <a:pt x="457200" y="844550"/>
                </a:lnTo>
                <a:lnTo>
                  <a:pt x="0" y="844550"/>
                </a:lnTo>
                <a:lnTo>
                  <a:pt x="0" y="38100"/>
                </a:lnTo>
                <a:arcTo hR="38100" wR="38100" stAng="10800000" swAng="5400000"/>
                <a:close/>
              </a:path>
            </a:pathLst>
          </a:custGeom>
          <a:solidFill>
            <a:srgbClr val="14213D"/>
          </a:solidFill>
          <a:ln/>
        </p:spPr>
      </p:sp>
      <p:sp>
        <p:nvSpPr>
          <p:cNvPr id="11" name="Text 9"/>
          <p:cNvSpPr/>
          <p:nvPr/>
        </p:nvSpPr>
        <p:spPr>
          <a:xfrm>
            <a:off x="1293654" y="4709161"/>
            <a:ext cx="15327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07394" y="3295650"/>
            <a:ext cx="2751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5,2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916430" y="3559811"/>
            <a:ext cx="457200" cy="1098550"/>
          </a:xfrm>
          <a:custGeom>
            <a:avLst/>
            <a:gdLst/>
            <a:ahLst/>
            <a:cxnLst/>
            <a:rect l="l" t="t" r="r" b="b"/>
            <a:pathLst>
              <a:path w="457200" h="1098550">
                <a:moveTo>
                  <a:pt x="38100" y="0"/>
                </a:moveTo>
                <a:lnTo>
                  <a:pt x="419100" y="0"/>
                </a:lnTo>
                <a:arcTo hR="38100" wR="38100" stAng="16200000" swAng="5400000"/>
                <a:lnTo>
                  <a:pt x="457200" y="1098550"/>
                </a:lnTo>
                <a:lnTo>
                  <a:pt x="0" y="1098550"/>
                </a:lnTo>
                <a:lnTo>
                  <a:pt x="0" y="38100"/>
                </a:lnTo>
                <a:arcTo hR="38100" wR="38100" stAng="10800000" swAng="5400000"/>
                <a:close/>
              </a:path>
            </a:pathLst>
          </a:custGeom>
          <a:solidFill>
            <a:srgbClr val="14213D"/>
          </a:solidFill>
          <a:ln/>
        </p:spPr>
      </p:sp>
      <p:sp>
        <p:nvSpPr>
          <p:cNvPr id="14" name="Text 12"/>
          <p:cNvSpPr/>
          <p:nvPr/>
        </p:nvSpPr>
        <p:spPr>
          <a:xfrm>
            <a:off x="2069068" y="4709161"/>
            <a:ext cx="15184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82094" y="3422650"/>
            <a:ext cx="2751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4,6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91130" y="3686811"/>
            <a:ext cx="457200" cy="971550"/>
          </a:xfrm>
          <a:custGeom>
            <a:avLst/>
            <a:gdLst/>
            <a:ahLst/>
            <a:cxnLst/>
            <a:rect l="l" t="t" r="r" b="b"/>
            <a:pathLst>
              <a:path w="457200" h="971550">
                <a:moveTo>
                  <a:pt x="38100" y="0"/>
                </a:moveTo>
                <a:lnTo>
                  <a:pt x="419100" y="0"/>
                </a:lnTo>
                <a:arcTo hR="38100" wR="38100" stAng="16200000" swAng="5400000"/>
                <a:lnTo>
                  <a:pt x="457200" y="971550"/>
                </a:lnTo>
                <a:lnTo>
                  <a:pt x="0" y="971550"/>
                </a:lnTo>
                <a:lnTo>
                  <a:pt x="0" y="38100"/>
                </a:lnTo>
                <a:arcTo hR="38100" wR="38100" stAng="10800000" swAng="5400000"/>
                <a:close/>
              </a:path>
            </a:pathLst>
          </a:custGeom>
          <a:solidFill>
            <a:srgbClr val="14213D"/>
          </a:solidFill>
          <a:ln/>
        </p:spPr>
      </p:sp>
      <p:sp>
        <p:nvSpPr>
          <p:cNvPr id="17" name="Text 15"/>
          <p:cNvSpPr/>
          <p:nvPr/>
        </p:nvSpPr>
        <p:spPr>
          <a:xfrm>
            <a:off x="2845356" y="4709161"/>
            <a:ext cx="14866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56794" y="2806700"/>
            <a:ext cx="2751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7,5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5355" y="3080386"/>
            <a:ext cx="438150" cy="1568450"/>
          </a:xfrm>
          <a:custGeom>
            <a:avLst/>
            <a:gdLst/>
            <a:ahLst/>
            <a:cxnLst/>
            <a:rect l="l" t="t" r="r" b="b"/>
            <a:pathLst>
              <a:path w="438150" h="1568450">
                <a:moveTo>
                  <a:pt x="28575" y="0"/>
                </a:moveTo>
                <a:lnTo>
                  <a:pt x="409575" y="0"/>
                </a:lnTo>
                <a:arcTo hR="28575" wR="28575" stAng="16200000" swAng="5400000"/>
                <a:lnTo>
                  <a:pt x="438150" y="1568450"/>
                </a:lnTo>
                <a:lnTo>
                  <a:pt x="0" y="1568450"/>
                </a:lnTo>
                <a:lnTo>
                  <a:pt x="0" y="28575"/>
                </a:lnTo>
                <a:arcTo hR="28575" wR="28575" stAng="10800000" swAng="5400000"/>
                <a:close/>
              </a:path>
            </a:pathLst>
          </a:custGeom>
          <a:solidFill>
            <a:srgbClr val="F6D5C2"/>
          </a:solidFill>
          <a:ln w="19050">
            <a:solidFill>
              <a:srgbClr val="B4501F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3616484" y="4709161"/>
            <a:ext cx="1558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31494" y="3587750"/>
            <a:ext cx="2751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3,8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40530" y="3851911"/>
            <a:ext cx="457200" cy="806450"/>
          </a:xfrm>
          <a:custGeom>
            <a:avLst/>
            <a:gdLst/>
            <a:ahLst/>
            <a:cxnLst/>
            <a:rect l="l" t="t" r="r" b="b"/>
            <a:pathLst>
              <a:path w="457200" h="806450">
                <a:moveTo>
                  <a:pt x="38100" y="0"/>
                </a:moveTo>
                <a:lnTo>
                  <a:pt x="419100" y="0"/>
                </a:lnTo>
                <a:arcTo hR="38100" wR="38100" stAng="16200000" swAng="5400000"/>
                <a:lnTo>
                  <a:pt x="457200" y="806450"/>
                </a:lnTo>
                <a:lnTo>
                  <a:pt x="0" y="806450"/>
                </a:lnTo>
                <a:lnTo>
                  <a:pt x="0" y="38100"/>
                </a:lnTo>
                <a:arcTo hR="38100" wR="38100" stAng="10800000" swAng="5400000"/>
                <a:close/>
              </a:path>
            </a:pathLst>
          </a:custGeom>
          <a:solidFill>
            <a:srgbClr val="14213D"/>
          </a:solidFill>
          <a:ln/>
        </p:spPr>
      </p:sp>
      <p:sp>
        <p:nvSpPr>
          <p:cNvPr id="23" name="Text 21"/>
          <p:cNvSpPr/>
          <p:nvPr/>
        </p:nvSpPr>
        <p:spPr>
          <a:xfrm>
            <a:off x="4398010" y="4709161"/>
            <a:ext cx="1422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06194" y="2952750"/>
            <a:ext cx="2751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6,8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4755" y="3226436"/>
            <a:ext cx="438150" cy="1422400"/>
          </a:xfrm>
          <a:custGeom>
            <a:avLst/>
            <a:gdLst/>
            <a:ahLst/>
            <a:cxnLst/>
            <a:rect l="l" t="t" r="r" b="b"/>
            <a:pathLst>
              <a:path w="438150" h="1422400">
                <a:moveTo>
                  <a:pt x="28575" y="0"/>
                </a:moveTo>
                <a:lnTo>
                  <a:pt x="409575" y="0"/>
                </a:lnTo>
                <a:arcTo hR="28575" wR="28575" stAng="16200000" swAng="5400000"/>
                <a:lnTo>
                  <a:pt x="438150" y="1422400"/>
                </a:lnTo>
                <a:lnTo>
                  <a:pt x="0" y="1422400"/>
                </a:lnTo>
                <a:lnTo>
                  <a:pt x="0" y="28575"/>
                </a:lnTo>
                <a:arcTo hR="28575" wR="28575" stAng="10800000" swAng="5400000"/>
                <a:close/>
              </a:path>
            </a:pathLst>
          </a:custGeom>
          <a:solidFill>
            <a:srgbClr val="F6D5C2"/>
          </a:solidFill>
          <a:ln w="19050">
            <a:solidFill>
              <a:srgbClr val="B4501F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5174456" y="4709161"/>
            <a:ext cx="1387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80894" y="3968750"/>
            <a:ext cx="2751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2,0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799455" y="4242436"/>
            <a:ext cx="438150" cy="406400"/>
          </a:xfrm>
          <a:custGeom>
            <a:avLst/>
            <a:gdLst/>
            <a:ahLst/>
            <a:cxnLst/>
            <a:rect l="l" t="t" r="r" b="b"/>
            <a:pathLst>
              <a:path w="438150" h="406400">
                <a:moveTo>
                  <a:pt x="28575" y="0"/>
                </a:moveTo>
                <a:lnTo>
                  <a:pt x="409575" y="0"/>
                </a:lnTo>
                <a:arcTo hR="28575" wR="28575" stAng="16200000" swAng="5400000"/>
                <a:lnTo>
                  <a:pt x="438150" y="406400"/>
                </a:lnTo>
                <a:lnTo>
                  <a:pt x="0" y="406400"/>
                </a:lnTo>
                <a:lnTo>
                  <a:pt x="0" y="28575"/>
                </a:lnTo>
                <a:arcTo hR="28575" wR="28575" stAng="10800000" swAng="5400000"/>
                <a:close/>
              </a:path>
            </a:pathLst>
          </a:custGeom>
          <a:solidFill>
            <a:srgbClr val="F6D5C2"/>
          </a:solidFill>
          <a:ln w="19050">
            <a:solidFill>
              <a:srgbClr val="B4501F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5938838" y="4709161"/>
            <a:ext cx="15938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75770" y="2415541"/>
            <a:ext cx="63484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argmax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55594" y="2679700"/>
            <a:ext cx="2751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8,1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74155" y="2953386"/>
            <a:ext cx="438150" cy="1695450"/>
          </a:xfrm>
          <a:custGeom>
            <a:avLst/>
            <a:gdLst/>
            <a:ahLst/>
            <a:cxnLst/>
            <a:rect l="l" t="t" r="r" b="b"/>
            <a:pathLst>
              <a:path w="438150" h="1695450">
                <a:moveTo>
                  <a:pt x="28575" y="0"/>
                </a:moveTo>
                <a:lnTo>
                  <a:pt x="409575" y="0"/>
                </a:lnTo>
                <a:arcTo hR="28575" wR="28575" stAng="16200000" swAng="5400000"/>
                <a:lnTo>
                  <a:pt x="438150" y="1695450"/>
                </a:lnTo>
                <a:lnTo>
                  <a:pt x="0" y="1695450"/>
                </a:lnTo>
                <a:lnTo>
                  <a:pt x="0" y="28575"/>
                </a:lnTo>
                <a:arcTo hR="28575" wR="28575" stAng="10800000" swAng="5400000"/>
                <a:close/>
              </a:path>
            </a:pathLst>
          </a:custGeom>
          <a:solidFill>
            <a:srgbClr val="F6D5C2"/>
          </a:solidFill>
          <a:ln w="19050">
            <a:solidFill>
              <a:srgbClr val="B4501F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6712982" y="4709161"/>
            <a:ext cx="16041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21080" y="5074920"/>
            <a:ext cx="630765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Q(s, ·) para 8 vídeos num mesmo estado · valores ilustrativos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708900" y="1847850"/>
            <a:ext cx="3670300" cy="0"/>
          </a:xfrm>
          <a:prstGeom prst="line">
            <a:avLst/>
          </a:prstGeom>
          <a:noFill/>
          <a:ln w="12700">
            <a:solidFill>
              <a:srgbClr val="B4501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08900" y="1953261"/>
            <a:ext cx="378040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Extrapolação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708900" y="2247900"/>
            <a:ext cx="378040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 vídeos nunca mostrados em estados parecidos, Q é um chute da rede, que pode sair alto por acaso.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708900" y="2858770"/>
            <a:ext cx="3670300" cy="0"/>
          </a:xfrm>
          <a:prstGeom prst="line">
            <a:avLst/>
          </a:prstGeom>
          <a:noFill/>
          <a:ln w="12700">
            <a:solidFill>
              <a:srgbClr val="B4501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08900" y="2964180"/>
            <a:ext cx="378040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max favorece o erro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708900" y="3258820"/>
            <a:ext cx="378040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argmax pega o maior chute, e o alvo de Bellman propaga esse erro para outros estados.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708900" y="3869691"/>
            <a:ext cx="3670300" cy="0"/>
          </a:xfrm>
          <a:prstGeom prst="line">
            <a:avLst/>
          </a:prstGeom>
          <a:noFill/>
          <a:ln w="12700">
            <a:solidFill>
              <a:srgbClr val="B4501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08900" y="3975100"/>
            <a:ext cx="378040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Nada corrige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708900" y="4269741"/>
            <a:ext cx="3780409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Online, testar H revelaria o erro. Offline, ele só cresce. No teste sintético, o DQN se atribuiu 22,8, acima do máximo teórico de 20.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B45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6789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BE3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IDEIA DO CQL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197100"/>
            <a:ext cx="9810750" cy="136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Ser pessimista onde não há dados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12800" y="3849370"/>
            <a:ext cx="3251200" cy="0"/>
          </a:xfrm>
          <a:prstGeom prst="line">
            <a:avLst/>
          </a:prstGeom>
          <a:noFill/>
          <a:ln w="12700">
            <a:solidFill>
              <a:srgbClr val="F3C2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4005580"/>
            <a:ext cx="334873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Empurrar para baixo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4325620"/>
            <a:ext cx="3348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BE3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 de todas as ações, com mais força nas de valor mais alto.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70400" y="3849370"/>
            <a:ext cx="3251200" cy="0"/>
          </a:xfrm>
          <a:prstGeom prst="line">
            <a:avLst/>
          </a:prstGeom>
          <a:noFill/>
          <a:ln w="12700">
            <a:solidFill>
              <a:srgbClr val="F3C2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70400" y="4005580"/>
            <a:ext cx="334873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Empurrar para cima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70400" y="4325620"/>
            <a:ext cx="3348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BE3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 das ações que de fato aparecem nos dados.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0" y="3849370"/>
            <a:ext cx="3251200" cy="0"/>
          </a:xfrm>
          <a:prstGeom prst="line">
            <a:avLst/>
          </a:prstGeom>
          <a:noFill/>
          <a:ln w="12700">
            <a:solidFill>
              <a:srgbClr val="F3C2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8000" y="4005580"/>
            <a:ext cx="334873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saldo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0" y="4325620"/>
            <a:ext cx="3348736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BE3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Só as ações sem evidência perdem valor. As ações com dados ficam onde estão.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FUNÇÃO DE PERDA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61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Uma linha a mais que o DQN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41500"/>
            <a:ext cx="10566400" cy="1000760"/>
          </a:xfrm>
          <a:prstGeom prst="roundRect">
            <a:avLst>
              <a:gd name="adj" fmla="val 10152"/>
            </a:avLst>
          </a:prstGeom>
          <a:solidFill>
            <a:srgbClr val="14213D"/>
          </a:solidFill>
          <a:ln/>
        </p:spPr>
        <p:txBody>
          <a:bodyPr wrap="square" lIns="275042" tIns="275042" rIns="275042" bIns="249642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7F5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 = TD + </a:t>
            </a:r>
            <a:r>
              <a:rPr lang="en-US" sz="2200" dirty="0">
                <a:solidFill>
                  <a:srgbClr val="F08A4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α</a:t>
            </a:r>
            <a:r>
              <a:rPr lang="en-US" sz="2200" dirty="0">
                <a:solidFill>
                  <a:srgbClr val="F7F5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· [ </a:t>
            </a:r>
            <a:r>
              <a:rPr lang="en-US" sz="2200" dirty="0">
                <a:solidFill>
                  <a:srgbClr val="8DB8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logsumexp Q(s,·)</a:t>
            </a:r>
            <a:r>
              <a:rPr lang="en-US" sz="2200" dirty="0">
                <a:solidFill>
                  <a:srgbClr val="F7F5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− </a:t>
            </a:r>
            <a:r>
              <a:rPr lang="en-US" sz="2200" dirty="0">
                <a:solidFill>
                  <a:srgbClr val="F3C2A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Q(s, a_dados)</a:t>
            </a:r>
            <a:r>
              <a:rPr lang="en-US" sz="2200" dirty="0">
                <a:solidFill>
                  <a:srgbClr val="F7F5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]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15975" y="3048636"/>
            <a:ext cx="2520950" cy="1306830"/>
          </a:xfrm>
          <a:prstGeom prst="roundRect">
            <a:avLst>
              <a:gd name="adj" fmla="val 5588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5680" y="3228339"/>
            <a:ext cx="222638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5680" y="3535682"/>
            <a:ext cx="2226386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erro de Bellman de sempre: (Q(s, a) − y)², com alvo Double DQN.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95675" y="3048636"/>
            <a:ext cx="2520950" cy="1306830"/>
          </a:xfrm>
          <a:prstGeom prst="roundRect">
            <a:avLst>
              <a:gd name="adj" fmla="val 5588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75380" y="3228339"/>
            <a:ext cx="222638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logsumexp Q(s,·)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75380" y="3535682"/>
            <a:ext cx="2226386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"max suave" sobre todos os vídeos. Minimizá-lo empurra Q para baixo.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5375" y="3048636"/>
            <a:ext cx="2520950" cy="1306830"/>
          </a:xfrm>
          <a:prstGeom prst="roundRect">
            <a:avLst>
              <a:gd name="adj" fmla="val 5588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3228339"/>
            <a:ext cx="222638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− Q(s, a_dados)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5080" y="3535682"/>
            <a:ext cx="2226386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vídeo registrado nos logs. Com sinal negativo, minimizar empurra seu Q para cima.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55075" y="3048636"/>
            <a:ext cx="2520950" cy="1306830"/>
          </a:xfrm>
          <a:prstGeom prst="roundRect">
            <a:avLst>
              <a:gd name="adj" fmla="val 5588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34780" y="3228339"/>
            <a:ext cx="222638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α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34780" y="3535682"/>
            <a:ext cx="2226386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peso do conservadorismo. É o hiperparâmetro mais importante do método.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2800" y="4561839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termo entre colchetes é o </a:t>
            </a: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gap</a:t>
            </a: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quanto o maior Q do estado supera o Q da ação dos dados.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 QUE LOGSUMEXP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61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gradiente diz quem é empurrado e com que força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841500"/>
            <a:ext cx="10566400" cy="1315720"/>
          </a:xfrm>
          <a:prstGeom prst="roundRect">
            <a:avLst>
              <a:gd name="adj" fmla="val 7722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1066705" y="2146300"/>
            <a:ext cx="10058591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7F5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∂gap / ∂Q(s,a) = </a:t>
            </a:r>
            <a:r>
              <a:rPr lang="en-US" sz="2200" dirty="0">
                <a:solidFill>
                  <a:srgbClr val="8DB8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softmax(Q(s,·))ₐ</a:t>
            </a:r>
            <a:r>
              <a:rPr lang="en-US" sz="2200" dirty="0">
                <a:solidFill>
                  <a:srgbClr val="F7F5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− </a:t>
            </a:r>
            <a:r>
              <a:rPr lang="en-US" sz="2200" dirty="0">
                <a:solidFill>
                  <a:srgbClr val="F3C2A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1[a = a_dados]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953828" y="2639061"/>
            <a:ext cx="428434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Descer o gradiente subtrai esse valor de cada Q(s, a)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5975" y="3363596"/>
            <a:ext cx="3414157" cy="1306830"/>
          </a:xfrm>
          <a:prstGeom prst="roundRect">
            <a:avLst>
              <a:gd name="adj" fmla="val 5588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5680" y="3543300"/>
            <a:ext cx="314638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 alto, sem dados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5680" y="3850639"/>
            <a:ext cx="3146389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Softmax grande: é empurrado para baixo com mais força. É exatamente o caso do vídeo H.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8882" y="3363596"/>
            <a:ext cx="3414236" cy="1306830"/>
          </a:xfrm>
          <a:prstGeom prst="roundRect">
            <a:avLst>
              <a:gd name="adj" fmla="val 5588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68587" y="3543300"/>
            <a:ext cx="314647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ação dos dados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68587" y="3850639"/>
            <a:ext cx="314647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Recebe softmax − 1, um valor negativo: seu Q sobe até dominar o softmax.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61868" y="3363596"/>
            <a:ext cx="3414157" cy="1306830"/>
          </a:xfrm>
          <a:prstGeom prst="roundRect">
            <a:avLst>
              <a:gd name="adj" fmla="val 5588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41574" y="3543300"/>
            <a:ext cx="314638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 baixo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41574" y="3850639"/>
            <a:ext cx="3146389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Softmax quase zero: praticamente não muda. O CQL não desperdiça esforço com ações já ruins.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4876800"/>
            <a:ext cx="5207000" cy="467360"/>
          </a:xfrm>
          <a:prstGeom prst="roundRect">
            <a:avLst>
              <a:gd name="adj" fmla="val 16304"/>
            </a:avLst>
          </a:prstGeom>
          <a:solidFill>
            <a:srgbClr val="ECE8DF"/>
          </a:solidFill>
          <a:ln/>
        </p:spPr>
        <p:txBody>
          <a:bodyPr wrap="square" lIns="155482" tIns="104682" rIns="9940" bIns="792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gap nunca é negativo: logsumexp ≥ max ≥ Q(s, a_dados).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72200" y="4876800"/>
            <a:ext cx="5207000" cy="467360"/>
          </a:xfrm>
          <a:prstGeom prst="roundRect">
            <a:avLst>
              <a:gd name="adj" fmla="val 16304"/>
            </a:avLst>
          </a:prstGeom>
          <a:solidFill>
            <a:srgbClr val="ECE8DF"/>
          </a:solidFill>
          <a:ln/>
        </p:spPr>
        <p:txBody>
          <a:bodyPr wrap="square" lIns="155482" tIns="104682" rIns="9940" bIns="792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 todos os Q iguais, gap = log N ≈ 8,1 para 3.300 vídeos.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EFEITO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61"/>
            <a:ext cx="10464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ação escolhida volta para onde há dados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70382"/>
            <a:ext cx="203200" cy="152400"/>
          </a:xfrm>
          <a:prstGeom prst="roundRect">
            <a:avLst>
              <a:gd name="adj" fmla="val 16667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1739900"/>
            <a:ext cx="19748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Vídeo com dados nos logs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3575" y="1779907"/>
            <a:ext cx="184150" cy="133350"/>
          </a:xfrm>
          <a:prstGeom prst="roundRect">
            <a:avLst>
              <a:gd name="adj" fmla="val 11905"/>
            </a:avLst>
          </a:prstGeom>
          <a:solidFill>
            <a:srgbClr val="F6D5C2"/>
          </a:solidFill>
          <a:ln w="19050">
            <a:solidFill>
              <a:srgbClr val="B4501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600450" y="1739900"/>
            <a:ext cx="91078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 dados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62634" y="1739900"/>
            <a:ext cx="16450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valores ilustrativos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5975" y="2108836"/>
            <a:ext cx="5124450" cy="3418840"/>
          </a:xfrm>
          <a:prstGeom prst="roundRect">
            <a:avLst>
              <a:gd name="adj" fmla="val 2879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1080" y="2313939"/>
            <a:ext cx="485566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Q-learning puro (DQN)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55859" y="3717289"/>
            <a:ext cx="2751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4,0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128395" y="3968750"/>
            <a:ext cx="330200" cy="762000"/>
          </a:xfrm>
          <a:custGeom>
            <a:avLst/>
            <a:gdLst/>
            <a:ahLst/>
            <a:cxnLst/>
            <a:rect l="l" t="t" r="r" b="b"/>
            <a:pathLst>
              <a:path w="330200" h="762000">
                <a:moveTo>
                  <a:pt x="38100" y="0"/>
                </a:moveTo>
                <a:lnTo>
                  <a:pt x="292100" y="0"/>
                </a:lnTo>
                <a:arcTo hR="38100" wR="38100" stAng="16200000" swAng="5400000"/>
                <a:lnTo>
                  <a:pt x="330200" y="762000"/>
                </a:lnTo>
                <a:lnTo>
                  <a:pt x="0" y="762000"/>
                </a:lnTo>
                <a:lnTo>
                  <a:pt x="0" y="38100"/>
                </a:lnTo>
                <a:arcTo hR="38100" wR="38100" stAng="10800000" swAng="5400000"/>
                <a:close/>
              </a:path>
            </a:pathLst>
          </a:custGeom>
          <a:solidFill>
            <a:srgbClr val="14213D"/>
          </a:solidFill>
          <a:ln/>
        </p:spPr>
      </p:sp>
      <p:sp>
        <p:nvSpPr>
          <p:cNvPr id="13" name="Text 11"/>
          <p:cNvSpPr/>
          <p:nvPr/>
        </p:nvSpPr>
        <p:spPr>
          <a:xfrm>
            <a:off x="1216819" y="4768850"/>
            <a:ext cx="15327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51489" y="3488689"/>
            <a:ext cx="2751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5,2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24025" y="3740150"/>
            <a:ext cx="330200" cy="990600"/>
          </a:xfrm>
          <a:custGeom>
            <a:avLst/>
            <a:gdLst/>
            <a:ahLst/>
            <a:cxnLst/>
            <a:rect l="l" t="t" r="r" b="b"/>
            <a:pathLst>
              <a:path w="330200" h="990600">
                <a:moveTo>
                  <a:pt x="38100" y="0"/>
                </a:moveTo>
                <a:lnTo>
                  <a:pt x="292100" y="0"/>
                </a:lnTo>
                <a:arcTo hR="38100" wR="38100" stAng="16200000" swAng="5400000"/>
                <a:lnTo>
                  <a:pt x="330200" y="990600"/>
                </a:lnTo>
                <a:lnTo>
                  <a:pt x="0" y="990600"/>
                </a:lnTo>
                <a:lnTo>
                  <a:pt x="0" y="38100"/>
                </a:lnTo>
                <a:arcTo hR="38100" wR="38100" stAng="10800000" swAng="5400000"/>
                <a:close/>
              </a:path>
            </a:pathLst>
          </a:custGeom>
          <a:solidFill>
            <a:srgbClr val="14213D"/>
          </a:solidFill>
          <a:ln/>
        </p:spPr>
      </p:sp>
      <p:sp>
        <p:nvSpPr>
          <p:cNvPr id="16" name="Text 14"/>
          <p:cNvSpPr/>
          <p:nvPr/>
        </p:nvSpPr>
        <p:spPr>
          <a:xfrm>
            <a:off x="1813163" y="4768850"/>
            <a:ext cx="15184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47119" y="3602989"/>
            <a:ext cx="2751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4,6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319655" y="3854450"/>
            <a:ext cx="330200" cy="876300"/>
          </a:xfrm>
          <a:custGeom>
            <a:avLst/>
            <a:gdLst/>
            <a:ahLst/>
            <a:cxnLst/>
            <a:rect l="l" t="t" r="r" b="b"/>
            <a:pathLst>
              <a:path w="330200" h="876300">
                <a:moveTo>
                  <a:pt x="38100" y="0"/>
                </a:moveTo>
                <a:lnTo>
                  <a:pt x="292100" y="0"/>
                </a:lnTo>
                <a:arcTo hR="38100" wR="38100" stAng="16200000" swAng="5400000"/>
                <a:lnTo>
                  <a:pt x="330200" y="876300"/>
                </a:lnTo>
                <a:lnTo>
                  <a:pt x="0" y="876300"/>
                </a:lnTo>
                <a:lnTo>
                  <a:pt x="0" y="38100"/>
                </a:lnTo>
                <a:arcTo hR="38100" wR="38100" stAng="10800000" swAng="5400000"/>
                <a:close/>
              </a:path>
            </a:pathLst>
          </a:custGeom>
          <a:solidFill>
            <a:srgbClr val="14213D"/>
          </a:solidFill>
          <a:ln/>
        </p:spPr>
      </p:sp>
      <p:sp>
        <p:nvSpPr>
          <p:cNvPr id="19" name="Text 17"/>
          <p:cNvSpPr/>
          <p:nvPr/>
        </p:nvSpPr>
        <p:spPr>
          <a:xfrm>
            <a:off x="2410381" y="4768850"/>
            <a:ext cx="14866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42749" y="3050539"/>
            <a:ext cx="2751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7,5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924810" y="3311525"/>
            <a:ext cx="311150" cy="1409700"/>
          </a:xfrm>
          <a:custGeom>
            <a:avLst/>
            <a:gdLst/>
            <a:ahLst/>
            <a:cxnLst/>
            <a:rect l="l" t="t" r="r" b="b"/>
            <a:pathLst>
              <a:path w="311150" h="1409700">
                <a:moveTo>
                  <a:pt x="28575" y="0"/>
                </a:moveTo>
                <a:lnTo>
                  <a:pt x="282575" y="0"/>
                </a:lnTo>
                <a:arcTo hR="28575" wR="28575" stAng="16200000" swAng="5400000"/>
                <a:lnTo>
                  <a:pt x="311150" y="1409700"/>
                </a:lnTo>
                <a:lnTo>
                  <a:pt x="0" y="1409700"/>
                </a:lnTo>
                <a:lnTo>
                  <a:pt x="0" y="28575"/>
                </a:lnTo>
                <a:arcTo hR="28575" wR="28575" stAng="10800000" swAng="5400000"/>
                <a:close/>
              </a:path>
            </a:pathLst>
          </a:custGeom>
          <a:solidFill>
            <a:srgbClr val="F6D5C2"/>
          </a:solidFill>
          <a:ln w="19050">
            <a:solidFill>
              <a:srgbClr val="B4501F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3002439" y="4768850"/>
            <a:ext cx="1558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38379" y="3755389"/>
            <a:ext cx="2751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3,8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510915" y="4006850"/>
            <a:ext cx="330200" cy="723900"/>
          </a:xfrm>
          <a:custGeom>
            <a:avLst/>
            <a:gdLst/>
            <a:ahLst/>
            <a:cxnLst/>
            <a:rect l="l" t="t" r="r" b="b"/>
            <a:pathLst>
              <a:path w="330200" h="723900">
                <a:moveTo>
                  <a:pt x="38100" y="0"/>
                </a:moveTo>
                <a:lnTo>
                  <a:pt x="292100" y="0"/>
                </a:lnTo>
                <a:arcTo hR="38100" wR="38100" stAng="16200000" swAng="5400000"/>
                <a:lnTo>
                  <a:pt x="330200" y="723900"/>
                </a:lnTo>
                <a:lnTo>
                  <a:pt x="0" y="723900"/>
                </a:lnTo>
                <a:lnTo>
                  <a:pt x="0" y="38100"/>
                </a:lnTo>
                <a:arcTo hR="38100" wR="38100" stAng="10800000" swAng="5400000"/>
                <a:close/>
              </a:path>
            </a:pathLst>
          </a:custGeom>
          <a:solidFill>
            <a:srgbClr val="14213D"/>
          </a:solidFill>
          <a:ln/>
        </p:spPr>
      </p:sp>
      <p:sp>
        <p:nvSpPr>
          <p:cNvPr id="25" name="Text 23"/>
          <p:cNvSpPr/>
          <p:nvPr/>
        </p:nvSpPr>
        <p:spPr>
          <a:xfrm>
            <a:off x="3604895" y="4768850"/>
            <a:ext cx="1422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34009" y="3183889"/>
            <a:ext cx="2751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6,8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16070" y="3444875"/>
            <a:ext cx="311150" cy="1276350"/>
          </a:xfrm>
          <a:custGeom>
            <a:avLst/>
            <a:gdLst/>
            <a:ahLst/>
            <a:cxnLst/>
            <a:rect l="l" t="t" r="r" b="b"/>
            <a:pathLst>
              <a:path w="311150" h="1276350">
                <a:moveTo>
                  <a:pt x="28575" y="0"/>
                </a:moveTo>
                <a:lnTo>
                  <a:pt x="282575" y="0"/>
                </a:lnTo>
                <a:arcTo hR="28575" wR="28575" stAng="16200000" swAng="5400000"/>
                <a:lnTo>
                  <a:pt x="311150" y="1276350"/>
                </a:lnTo>
                <a:lnTo>
                  <a:pt x="0" y="1276350"/>
                </a:lnTo>
                <a:lnTo>
                  <a:pt x="0" y="28575"/>
                </a:lnTo>
                <a:arcTo hR="28575" wR="28575" stAng="10800000" swAng="5400000"/>
                <a:close/>
              </a:path>
            </a:pathLst>
          </a:custGeom>
          <a:solidFill>
            <a:srgbClr val="F6D5C2"/>
          </a:solidFill>
          <a:ln w="19050">
            <a:solidFill>
              <a:srgbClr val="B4501F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4202271" y="4768850"/>
            <a:ext cx="1387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29639" y="4098289"/>
            <a:ext cx="2751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2,0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11700" y="4359275"/>
            <a:ext cx="311150" cy="361950"/>
          </a:xfrm>
          <a:custGeom>
            <a:avLst/>
            <a:gdLst/>
            <a:ahLst/>
            <a:cxnLst/>
            <a:rect l="l" t="t" r="r" b="b"/>
            <a:pathLst>
              <a:path w="311150" h="361950">
                <a:moveTo>
                  <a:pt x="28575" y="0"/>
                </a:moveTo>
                <a:lnTo>
                  <a:pt x="282575" y="0"/>
                </a:lnTo>
                <a:arcTo hR="28575" wR="28575" stAng="16200000" swAng="5400000"/>
                <a:lnTo>
                  <a:pt x="311150" y="361950"/>
                </a:lnTo>
                <a:lnTo>
                  <a:pt x="0" y="361950"/>
                </a:lnTo>
                <a:lnTo>
                  <a:pt x="0" y="28575"/>
                </a:lnTo>
                <a:arcTo hR="28575" wR="28575" stAng="10800000" swAng="5400000"/>
                <a:close/>
              </a:path>
            </a:pathLst>
          </a:custGeom>
          <a:solidFill>
            <a:srgbClr val="F6D5C2"/>
          </a:solidFill>
          <a:ln w="19050">
            <a:solidFill>
              <a:srgbClr val="B4501F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4787583" y="4768850"/>
            <a:ext cx="15938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80795" y="2684782"/>
            <a:ext cx="36414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max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25269" y="2936239"/>
            <a:ext cx="2751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8,1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307330" y="3197225"/>
            <a:ext cx="311150" cy="1524000"/>
          </a:xfrm>
          <a:custGeom>
            <a:avLst/>
            <a:gdLst/>
            <a:ahLst/>
            <a:cxnLst/>
            <a:rect l="l" t="t" r="r" b="b"/>
            <a:pathLst>
              <a:path w="311150" h="1524000">
                <a:moveTo>
                  <a:pt x="28575" y="0"/>
                </a:moveTo>
                <a:lnTo>
                  <a:pt x="282575" y="0"/>
                </a:lnTo>
                <a:arcTo hR="28575" wR="28575" stAng="16200000" swAng="5400000"/>
                <a:lnTo>
                  <a:pt x="311150" y="1524000"/>
                </a:lnTo>
                <a:lnTo>
                  <a:pt x="0" y="1524000"/>
                </a:lnTo>
                <a:lnTo>
                  <a:pt x="0" y="28575"/>
                </a:lnTo>
                <a:arcTo hR="28575" wR="28575" stAng="10800000" swAng="5400000"/>
                <a:close/>
              </a:path>
            </a:pathLst>
          </a:custGeom>
          <a:solidFill>
            <a:srgbClr val="F6D5C2"/>
          </a:solidFill>
          <a:ln w="19050">
            <a:solidFill>
              <a:srgbClr val="B4501F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5382657" y="4768850"/>
            <a:ext cx="16041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21080" y="5109211"/>
            <a:ext cx="485566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Escolhe </a:t>
            </a:r>
            <a:r>
              <a:rPr lang="en-US" sz="12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</a:t>
            </a: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o maior valor, mas sem nenhum dado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51575" y="2108836"/>
            <a:ext cx="5124450" cy="3418840"/>
          </a:xfrm>
          <a:prstGeom prst="roundRect">
            <a:avLst>
              <a:gd name="adj" fmla="val 2879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56680" y="2313939"/>
            <a:ext cx="485566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 CQL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91459" y="3202939"/>
            <a:ext cx="2751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4,2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563995" y="3454400"/>
            <a:ext cx="330200" cy="800100"/>
          </a:xfrm>
          <a:custGeom>
            <a:avLst/>
            <a:gdLst/>
            <a:ahLst/>
            <a:cxnLst/>
            <a:rect l="l" t="t" r="r" b="b"/>
            <a:pathLst>
              <a:path w="330200" h="800100">
                <a:moveTo>
                  <a:pt x="38100" y="0"/>
                </a:moveTo>
                <a:lnTo>
                  <a:pt x="292100" y="0"/>
                </a:lnTo>
                <a:arcTo hR="38100" wR="38100" stAng="16200000" swAng="5400000"/>
                <a:lnTo>
                  <a:pt x="330200" y="800100"/>
                </a:lnTo>
                <a:lnTo>
                  <a:pt x="0" y="800100"/>
                </a:lnTo>
                <a:lnTo>
                  <a:pt x="0" y="38100"/>
                </a:lnTo>
                <a:arcTo hR="38100" wR="38100" stAng="10800000" swAng="5400000"/>
                <a:close/>
              </a:path>
            </a:pathLst>
          </a:custGeom>
          <a:solidFill>
            <a:srgbClr val="14213D"/>
          </a:solidFill>
          <a:ln/>
        </p:spPr>
      </p:sp>
      <p:sp>
        <p:nvSpPr>
          <p:cNvPr id="41" name="Text 39"/>
          <p:cNvSpPr/>
          <p:nvPr/>
        </p:nvSpPr>
        <p:spPr>
          <a:xfrm>
            <a:off x="6652419" y="4292600"/>
            <a:ext cx="15327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142615" y="2684782"/>
            <a:ext cx="36414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max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187089" y="2936239"/>
            <a:ext cx="2751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5,6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159625" y="3187700"/>
            <a:ext cx="330200" cy="1066800"/>
          </a:xfrm>
          <a:custGeom>
            <a:avLst/>
            <a:gdLst/>
            <a:ahLst/>
            <a:cxnLst/>
            <a:rect l="l" t="t" r="r" b="b"/>
            <a:pathLst>
              <a:path w="330200" h="1066800">
                <a:moveTo>
                  <a:pt x="38100" y="0"/>
                </a:moveTo>
                <a:lnTo>
                  <a:pt x="292100" y="0"/>
                </a:lnTo>
                <a:arcTo hR="38100" wR="38100" stAng="16200000" swAng="5400000"/>
                <a:lnTo>
                  <a:pt x="330200" y="1066800"/>
                </a:lnTo>
                <a:lnTo>
                  <a:pt x="0" y="1066800"/>
                </a:lnTo>
                <a:lnTo>
                  <a:pt x="0" y="38100"/>
                </a:lnTo>
                <a:arcTo hR="38100" wR="38100" stAng="10800000" swAng="5400000"/>
                <a:close/>
              </a:path>
            </a:pathLst>
          </a:custGeom>
          <a:solidFill>
            <a:srgbClr val="14213D"/>
          </a:solidFill>
          <a:ln/>
        </p:spPr>
      </p:sp>
      <p:sp>
        <p:nvSpPr>
          <p:cNvPr id="45" name="Text 43"/>
          <p:cNvSpPr/>
          <p:nvPr/>
        </p:nvSpPr>
        <p:spPr>
          <a:xfrm>
            <a:off x="7248763" y="4292600"/>
            <a:ext cx="15184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782719" y="3069589"/>
            <a:ext cx="2751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4,9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755255" y="3321050"/>
            <a:ext cx="330200" cy="933450"/>
          </a:xfrm>
          <a:custGeom>
            <a:avLst/>
            <a:gdLst/>
            <a:ahLst/>
            <a:cxnLst/>
            <a:rect l="l" t="t" r="r" b="b"/>
            <a:pathLst>
              <a:path w="330200" h="933450">
                <a:moveTo>
                  <a:pt x="38100" y="0"/>
                </a:moveTo>
                <a:lnTo>
                  <a:pt x="292100" y="0"/>
                </a:lnTo>
                <a:arcTo hR="38100" wR="38100" stAng="16200000" swAng="5400000"/>
                <a:lnTo>
                  <a:pt x="330200" y="933450"/>
                </a:lnTo>
                <a:lnTo>
                  <a:pt x="0" y="933450"/>
                </a:lnTo>
                <a:lnTo>
                  <a:pt x="0" y="38100"/>
                </a:lnTo>
                <a:arcTo hR="38100" wR="38100" stAng="10800000" swAng="5400000"/>
                <a:close/>
              </a:path>
            </a:pathLst>
          </a:custGeom>
          <a:solidFill>
            <a:srgbClr val="14213D"/>
          </a:solidFill>
          <a:ln/>
        </p:spPr>
      </p:sp>
      <p:sp>
        <p:nvSpPr>
          <p:cNvPr id="48" name="Text 46"/>
          <p:cNvSpPr/>
          <p:nvPr/>
        </p:nvSpPr>
        <p:spPr>
          <a:xfrm>
            <a:off x="7845981" y="4292600"/>
            <a:ext cx="14866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378349" y="3431539"/>
            <a:ext cx="2751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3,0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360410" y="3692525"/>
            <a:ext cx="311150" cy="552450"/>
          </a:xfrm>
          <a:custGeom>
            <a:avLst/>
            <a:gdLst/>
            <a:ahLst/>
            <a:cxnLst/>
            <a:rect l="l" t="t" r="r" b="b"/>
            <a:pathLst>
              <a:path w="311150" h="552450">
                <a:moveTo>
                  <a:pt x="28575" y="0"/>
                </a:moveTo>
                <a:lnTo>
                  <a:pt x="282575" y="0"/>
                </a:lnTo>
                <a:arcTo hR="28575" wR="28575" stAng="16200000" swAng="5400000"/>
                <a:lnTo>
                  <a:pt x="311150" y="552450"/>
                </a:lnTo>
                <a:lnTo>
                  <a:pt x="0" y="552450"/>
                </a:lnTo>
                <a:lnTo>
                  <a:pt x="0" y="28575"/>
                </a:lnTo>
                <a:arcTo hR="28575" wR="28575" stAng="10800000" swAng="5400000"/>
                <a:close/>
              </a:path>
            </a:pathLst>
          </a:custGeom>
          <a:solidFill>
            <a:srgbClr val="F6D5C2"/>
          </a:solidFill>
          <a:ln w="19050">
            <a:solidFill>
              <a:srgbClr val="B4501F"/>
            </a:solidFill>
            <a:prstDash val="dash"/>
          </a:ln>
        </p:spPr>
      </p:sp>
      <p:sp>
        <p:nvSpPr>
          <p:cNvPr id="51" name="Text 49"/>
          <p:cNvSpPr/>
          <p:nvPr/>
        </p:nvSpPr>
        <p:spPr>
          <a:xfrm>
            <a:off x="8438039" y="4292600"/>
            <a:ext cx="1558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973979" y="3241039"/>
            <a:ext cx="2751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4,0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8946515" y="3492500"/>
            <a:ext cx="330200" cy="762000"/>
          </a:xfrm>
          <a:custGeom>
            <a:avLst/>
            <a:gdLst/>
            <a:ahLst/>
            <a:cxnLst/>
            <a:rect l="l" t="t" r="r" b="b"/>
            <a:pathLst>
              <a:path w="330200" h="762000">
                <a:moveTo>
                  <a:pt x="38100" y="0"/>
                </a:moveTo>
                <a:lnTo>
                  <a:pt x="292100" y="0"/>
                </a:lnTo>
                <a:arcTo hR="38100" wR="38100" stAng="16200000" swAng="5400000"/>
                <a:lnTo>
                  <a:pt x="330200" y="762000"/>
                </a:lnTo>
                <a:lnTo>
                  <a:pt x="0" y="762000"/>
                </a:lnTo>
                <a:lnTo>
                  <a:pt x="0" y="38100"/>
                </a:lnTo>
                <a:arcTo hR="38100" wR="38100" stAng="10800000" swAng="5400000"/>
                <a:close/>
              </a:path>
            </a:pathLst>
          </a:custGeom>
          <a:solidFill>
            <a:srgbClr val="14213D"/>
          </a:solidFill>
          <a:ln/>
        </p:spPr>
      </p:sp>
      <p:sp>
        <p:nvSpPr>
          <p:cNvPr id="54" name="Text 52"/>
          <p:cNvSpPr/>
          <p:nvPr/>
        </p:nvSpPr>
        <p:spPr>
          <a:xfrm>
            <a:off x="9040495" y="4292600"/>
            <a:ext cx="1422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569609" y="3507739"/>
            <a:ext cx="2751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2,6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9551670" y="3768725"/>
            <a:ext cx="311150" cy="476250"/>
          </a:xfrm>
          <a:custGeom>
            <a:avLst/>
            <a:gdLst/>
            <a:ahLst/>
            <a:cxnLst/>
            <a:rect l="l" t="t" r="r" b="b"/>
            <a:pathLst>
              <a:path w="311150" h="476250">
                <a:moveTo>
                  <a:pt x="28575" y="0"/>
                </a:moveTo>
                <a:lnTo>
                  <a:pt x="282575" y="0"/>
                </a:lnTo>
                <a:arcTo hR="28575" wR="28575" stAng="16200000" swAng="5400000"/>
                <a:lnTo>
                  <a:pt x="311150" y="476250"/>
                </a:lnTo>
                <a:lnTo>
                  <a:pt x="0" y="476250"/>
                </a:lnTo>
                <a:lnTo>
                  <a:pt x="0" y="28575"/>
                </a:lnTo>
                <a:arcTo hR="28575" wR="28575" stAng="10800000" swAng="5400000"/>
                <a:close/>
              </a:path>
            </a:pathLst>
          </a:custGeom>
          <a:solidFill>
            <a:srgbClr val="F6D5C2"/>
          </a:solidFill>
          <a:ln w="19050">
            <a:solidFill>
              <a:srgbClr val="B4501F"/>
            </a:solidFill>
            <a:prstDash val="dash"/>
          </a:ln>
        </p:spPr>
      </p:sp>
      <p:sp>
        <p:nvSpPr>
          <p:cNvPr id="57" name="Text 55"/>
          <p:cNvSpPr/>
          <p:nvPr/>
        </p:nvSpPr>
        <p:spPr>
          <a:xfrm>
            <a:off x="9637871" y="4292600"/>
            <a:ext cx="1387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10165239" y="3812539"/>
            <a:ext cx="2751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1,0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10147300" y="4073525"/>
            <a:ext cx="311150" cy="171450"/>
          </a:xfrm>
          <a:custGeom>
            <a:avLst/>
            <a:gdLst/>
            <a:ahLst/>
            <a:cxnLst/>
            <a:rect l="l" t="t" r="r" b="b"/>
            <a:pathLst>
              <a:path w="311150" h="171450">
                <a:moveTo>
                  <a:pt x="28575" y="0"/>
                </a:moveTo>
                <a:lnTo>
                  <a:pt x="282575" y="0"/>
                </a:lnTo>
                <a:arcTo hR="28575" wR="28575" stAng="16200000" swAng="5400000"/>
                <a:lnTo>
                  <a:pt x="311150" y="171450"/>
                </a:lnTo>
                <a:lnTo>
                  <a:pt x="0" y="171450"/>
                </a:lnTo>
                <a:lnTo>
                  <a:pt x="0" y="28575"/>
                </a:lnTo>
                <a:arcTo hR="28575" wR="28575" stAng="10800000" swAng="5400000"/>
                <a:close/>
              </a:path>
            </a:pathLst>
          </a:custGeom>
          <a:solidFill>
            <a:srgbClr val="F6D5C2"/>
          </a:solidFill>
          <a:ln w="19050">
            <a:solidFill>
              <a:srgbClr val="B4501F"/>
            </a:solidFill>
            <a:prstDash val="dash"/>
          </a:ln>
        </p:spPr>
      </p:sp>
      <p:sp>
        <p:nvSpPr>
          <p:cNvPr id="60" name="Text 58"/>
          <p:cNvSpPr/>
          <p:nvPr/>
        </p:nvSpPr>
        <p:spPr>
          <a:xfrm>
            <a:off x="10223183" y="4292600"/>
            <a:ext cx="15938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10760869" y="3374389"/>
            <a:ext cx="2751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3,3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10742930" y="3635375"/>
            <a:ext cx="311150" cy="609600"/>
          </a:xfrm>
          <a:custGeom>
            <a:avLst/>
            <a:gdLst/>
            <a:ahLst/>
            <a:cxnLst/>
            <a:rect l="l" t="t" r="r" b="b"/>
            <a:pathLst>
              <a:path w="311150" h="609600">
                <a:moveTo>
                  <a:pt x="28575" y="0"/>
                </a:moveTo>
                <a:lnTo>
                  <a:pt x="282575" y="0"/>
                </a:lnTo>
                <a:arcTo hR="28575" wR="28575" stAng="16200000" swAng="5400000"/>
                <a:lnTo>
                  <a:pt x="311150" y="609600"/>
                </a:lnTo>
                <a:lnTo>
                  <a:pt x="0" y="609600"/>
                </a:lnTo>
                <a:lnTo>
                  <a:pt x="0" y="28575"/>
                </a:lnTo>
                <a:arcTo hR="28575" wR="28575" stAng="10800000" swAng="5400000"/>
                <a:close/>
              </a:path>
            </a:pathLst>
          </a:custGeom>
          <a:solidFill>
            <a:srgbClr val="F6D5C2"/>
          </a:solidFill>
          <a:ln w="19050">
            <a:solidFill>
              <a:srgbClr val="B4501F"/>
            </a:solidFill>
            <a:prstDash val="dash"/>
          </a:ln>
        </p:spPr>
      </p:sp>
      <p:sp>
        <p:nvSpPr>
          <p:cNvPr id="63" name="Text 61"/>
          <p:cNvSpPr/>
          <p:nvPr/>
        </p:nvSpPr>
        <p:spPr>
          <a:xfrm>
            <a:off x="10818257" y="4292600"/>
            <a:ext cx="16041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456680" y="4632961"/>
            <a:ext cx="485566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Escolhe </a:t>
            </a:r>
            <a:r>
              <a:rPr lang="en-US" sz="12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</a:t>
            </a: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o melhor entre os vídeos com evidência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PAPEL DE Α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61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α decide quanto confiar nos dados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793875"/>
            <a:ext cx="3180477" cy="1029970"/>
          </a:xfrm>
          <a:prstGeom prst="roundRect">
            <a:avLst>
              <a:gd name="adj" fmla="val 7090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1948182"/>
            <a:ext cx="290569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α → 0: DQN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95680" y="2242821"/>
            <a:ext cx="290569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Otimista: confia nas extrapolações e superestima Q.</a:t>
            </a:r>
            <a:endParaRPr lang="en-US" sz="1200" dirty="0"/>
          </a:p>
        </p:txBody>
      </p:sp>
      <p:pic>
        <p:nvPicPr>
          <p:cNvPr id="7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01227" y="2270761"/>
            <a:ext cx="304800" cy="76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07627" y="1795782"/>
            <a:ext cx="3176746" cy="1026160"/>
          </a:xfrm>
          <a:prstGeom prst="roundRect">
            <a:avLst>
              <a:gd name="adj" fmla="val 7426"/>
            </a:avLst>
          </a:prstGeom>
          <a:solidFill>
            <a:srgbClr val="14213D"/>
          </a:solidFill>
          <a:ln/>
        </p:spPr>
      </p:sp>
      <p:sp>
        <p:nvSpPr>
          <p:cNvPr id="9" name="Text 6"/>
          <p:cNvSpPr/>
          <p:nvPr/>
        </p:nvSpPr>
        <p:spPr>
          <a:xfrm>
            <a:off x="4685427" y="1948182"/>
            <a:ext cx="290578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α intermediário: CQL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685427" y="2242821"/>
            <a:ext cx="290578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Melhora a política, mas dentro da região coberta pelos dados.</a:t>
            </a:r>
            <a:endParaRPr lang="en-US" sz="1200" dirty="0"/>
          </a:p>
        </p:txBody>
      </p:sp>
      <p:pic>
        <p:nvPicPr>
          <p:cNvPr id="11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85974" y="2270761"/>
            <a:ext cx="304800" cy="762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195549" y="1793875"/>
            <a:ext cx="3180477" cy="1029970"/>
          </a:xfrm>
          <a:prstGeom prst="roundRect">
            <a:avLst>
              <a:gd name="adj" fmla="val 7090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375253" y="1948182"/>
            <a:ext cx="290569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α grande: BC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8375253" y="2242821"/>
            <a:ext cx="290569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Pessimista: só a ação dos dados tem valor, e a política vira imitação.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014981"/>
          <a:ext cx="10556240" cy="2301240"/>
        </p:xfrm>
        <a:graphic>
          <a:graphicData uri="http://schemas.openxmlformats.org/drawingml/2006/table">
            <a:tbl>
              <a:tblPr/>
              <a:tblGrid>
                <a:gridCol w="3589122"/>
                <a:gridCol w="3483559"/>
                <a:gridCol w="3483559"/>
              </a:tblGrid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Política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Concordância com o BC (top-10)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Retorno no simulador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DQN (α = 0)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0,00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14,4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CQL α = 0,1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0,00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16,6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F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CQL α = 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0,32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12,7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CQL α = 5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0,86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6,3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F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BC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1,00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6,1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1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Teste sintético do pipeline original (uma semente, regra de abandono com 4 repetições). Ilustra a tendência, não o KuaiRec real.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NOSSA IMPLEMENTAÇÃO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64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Como a rede calcula Q(s, ·)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947546"/>
            <a:ext cx="1783794" cy="984250"/>
          </a:xfrm>
          <a:prstGeom prst="roundRect">
            <a:avLst>
              <a:gd name="adj" fmla="val 7419"/>
            </a:avLst>
          </a:prstGeom>
          <a:solidFill>
            <a:srgbClr val="FFFFFF"/>
          </a:solidFill>
          <a:ln w="6350">
            <a:solidFill>
              <a:srgbClr val="C9C2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0280" y="2101850"/>
            <a:ext cx="1525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Histórico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70280" y="2366014"/>
            <a:ext cx="1525984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vídeos + watch ratio de cada um</a:t>
            </a:r>
            <a:endParaRPr lang="en-US" sz="1200" dirty="0"/>
          </a:p>
        </p:txBody>
      </p:sp>
      <p:pic>
        <p:nvPicPr>
          <p:cNvPr id="7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79144" y="2401571"/>
            <a:ext cx="254000" cy="76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012519" y="1844675"/>
            <a:ext cx="1783874" cy="1189990"/>
          </a:xfrm>
          <a:prstGeom prst="roundRect">
            <a:avLst>
              <a:gd name="adj" fmla="val 6137"/>
            </a:avLst>
          </a:prstGeom>
          <a:solidFill>
            <a:srgbClr val="FFFFFF"/>
          </a:solidFill>
          <a:ln w="6350">
            <a:solidFill>
              <a:srgbClr val="C9C2B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166824" y="1998979"/>
            <a:ext cx="15260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Embedding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166824" y="2263142"/>
            <a:ext cx="1526064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Vetor de 64 dimensões por vídeo, mais o feedback</a:t>
            </a:r>
            <a:endParaRPr lang="en-US" sz="1200" dirty="0"/>
          </a:p>
        </p:txBody>
      </p:sp>
      <p:pic>
        <p:nvPicPr>
          <p:cNvPr id="11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75768" y="2401571"/>
            <a:ext cx="254000" cy="762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209143" y="1844675"/>
            <a:ext cx="1783794" cy="1189990"/>
          </a:xfrm>
          <a:prstGeom prst="roundRect">
            <a:avLst>
              <a:gd name="adj" fmla="val 6137"/>
            </a:avLst>
          </a:prstGeom>
          <a:solidFill>
            <a:srgbClr val="FFFFFF"/>
          </a:solidFill>
          <a:ln w="6350">
            <a:solidFill>
              <a:srgbClr val="C9C2B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363448" y="1998979"/>
            <a:ext cx="1525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GRU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363448" y="2263142"/>
            <a:ext cx="1525984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Resume a sequência num estado de 64 dimensões</a:t>
            </a:r>
            <a:endParaRPr lang="en-US" sz="1200" dirty="0"/>
          </a:p>
        </p:txBody>
      </p:sp>
      <p:pic>
        <p:nvPicPr>
          <p:cNvPr id="15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072313" y="2401571"/>
            <a:ext cx="254000" cy="762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405688" y="1947546"/>
            <a:ext cx="1783874" cy="984250"/>
          </a:xfrm>
          <a:prstGeom prst="roundRect">
            <a:avLst>
              <a:gd name="adj" fmla="val 7419"/>
            </a:avLst>
          </a:prstGeom>
          <a:solidFill>
            <a:srgbClr val="FFFFFF"/>
          </a:solidFill>
          <a:ln w="6350">
            <a:solidFill>
              <a:srgbClr val="C9C2B2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559993" y="2101850"/>
            <a:ext cx="15260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MLP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559993" y="2366014"/>
            <a:ext cx="1526064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Camada oculta e camada de saída</a:t>
            </a:r>
            <a:endParaRPr lang="en-US" sz="1200" dirty="0"/>
          </a:p>
        </p:txBody>
      </p:sp>
      <p:pic>
        <p:nvPicPr>
          <p:cNvPr id="19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68937" y="2401571"/>
            <a:ext cx="254000" cy="762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599137" y="1846579"/>
            <a:ext cx="1780064" cy="1186180"/>
          </a:xfrm>
          <a:prstGeom prst="roundRect">
            <a:avLst>
              <a:gd name="adj" fmla="val 6424"/>
            </a:avLst>
          </a:prstGeom>
          <a:solidFill>
            <a:srgbClr val="14213D"/>
          </a:solidFill>
          <a:ln/>
        </p:spPr>
      </p:sp>
      <p:sp>
        <p:nvSpPr>
          <p:cNvPr id="21" name="Text 15"/>
          <p:cNvSpPr/>
          <p:nvPr/>
        </p:nvSpPr>
        <p:spPr>
          <a:xfrm>
            <a:off x="9751537" y="1998979"/>
            <a:ext cx="15260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08A4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Q(s, ·)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9751537" y="2263142"/>
            <a:ext cx="1526064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C9D1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valor para cada um dos ~3.300 vídeos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812800" y="3247392"/>
            <a:ext cx="3420507" cy="0"/>
          </a:xfrm>
          <a:prstGeom prst="line">
            <a:avLst/>
          </a:prstGeom>
          <a:noFill/>
          <a:ln w="12700">
            <a:solidFill>
              <a:srgbClr val="B4501F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812800" y="3352800"/>
            <a:ext cx="352312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Alvo Double DQN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812800" y="3647442"/>
            <a:ext cx="352312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rede online escolhe a' em s'; a rede alvo dá o valor. Reduz a superestimação do max.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385707" y="3247392"/>
            <a:ext cx="3420586" cy="0"/>
          </a:xfrm>
          <a:prstGeom prst="line">
            <a:avLst/>
          </a:prstGeom>
          <a:noFill/>
          <a:ln w="12700">
            <a:solidFill>
              <a:srgbClr val="B4501F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385707" y="3352800"/>
            <a:ext cx="352320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Rede alvo suave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4385707" y="3647442"/>
            <a:ext cx="352320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Atualizada a cada passo com τ = 0,005: θ' ← (1 − τ)·θ' + τ·θ. Estabiliza o alvo.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7958693" y="3247392"/>
            <a:ext cx="3420507" cy="0"/>
          </a:xfrm>
          <a:prstGeom prst="line">
            <a:avLst/>
          </a:prstGeom>
          <a:noFill/>
          <a:ln w="12700">
            <a:solidFill>
              <a:srgbClr val="B4501F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958693" y="3352800"/>
            <a:ext cx="352312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Máscaras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7958693" y="3647442"/>
            <a:ext cx="352312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padding fica fora do logsumexp, e vídeos já no histórico não podem ser recomendados.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NOSSA IMPLEMENTAÇÃO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64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Um passo de treino, do batch à atualização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97890" y="1790700"/>
            <a:ext cx="4851908" cy="2014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910" indent="-168910">
              <a:lnSpc>
                <a:spcPts val="1740"/>
              </a:lnSpc>
              <a:buSzPct val="100000"/>
              <a:buFontTx/>
              <a:buAutoNum type="arabicPeriod" startAt="1"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Amostrar 256 transições (s, a, r, s') do dataset fixo</a:t>
            </a:r>
            <a:endParaRPr lang="en-US" sz="1200" dirty="0"/>
          </a:p>
          <a:p>
            <a:pPr algn="l" marL="168910" indent="-168910">
              <a:lnSpc>
                <a:spcPts val="1740"/>
              </a:lnSpc>
              <a:buSzPct val="100000"/>
              <a:buFontTx/>
              <a:buAutoNum type="arabicPeriod" startAt="1"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Calcular Q(s, ·) com a rede online</a:t>
            </a:r>
            <a:endParaRPr lang="en-US" sz="1200" dirty="0"/>
          </a:p>
          <a:p>
            <a:pPr algn="l" marL="168910" indent="-168910">
              <a:lnSpc>
                <a:spcPts val="1740"/>
              </a:lnSpc>
              <a:buSzPct val="100000"/>
              <a:buFontTx/>
              <a:buAutoNum type="arabicPeriod" startAt="1"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Escolher a' = argmax Q(s', ·) com a rede online e avaliá-la com a rede alvo</a:t>
            </a:r>
            <a:endParaRPr lang="en-US" sz="1200" dirty="0"/>
          </a:p>
          <a:p>
            <a:pPr algn="l" marL="168910" indent="-168910">
              <a:lnSpc>
                <a:spcPts val="1740"/>
              </a:lnSpc>
              <a:buSzPct val="100000"/>
              <a:buFontTx/>
              <a:buAutoNum type="arabicPeriod" startAt="1"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Montar o alvo y = r + γ · (1 − fim) · Q_alvo(s', a')</a:t>
            </a:r>
            <a:endParaRPr lang="en-US" sz="1200" dirty="0"/>
          </a:p>
          <a:p>
            <a:pPr algn="l" marL="168910" indent="-168910">
              <a:lnSpc>
                <a:spcPts val="1740"/>
              </a:lnSpc>
              <a:buSzPct val="100000"/>
              <a:buFontTx/>
              <a:buAutoNum type="arabicPeriod" startAt="1"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TD = erro quadrático entre Q(s, a) e y</a:t>
            </a:r>
            <a:endParaRPr lang="en-US" sz="1200" dirty="0"/>
          </a:p>
          <a:p>
            <a:pPr algn="l" marL="168910" indent="-168910">
              <a:lnSpc>
                <a:spcPts val="1740"/>
              </a:lnSpc>
              <a:buSzPct val="100000"/>
              <a:buFontTx/>
              <a:buAutoNum type="arabicPeriod" startAt="1"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gap = logsumexp Q(s, ·) − Q(s, a), média do batch</a:t>
            </a:r>
            <a:endParaRPr lang="en-US" sz="1200" dirty="0"/>
          </a:p>
          <a:p>
            <a:pPr algn="l" marL="168910" indent="-168910">
              <a:lnSpc>
                <a:spcPts val="1740"/>
              </a:lnSpc>
              <a:buSzPct val="100000"/>
              <a:buFontTx/>
              <a:buAutoNum type="arabicPeriod" startAt="1"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perda = TD + α · gap; gradiente com clipping em 10 e Adam</a:t>
            </a:r>
            <a:endParaRPr lang="en-US" sz="1200" dirty="0"/>
          </a:p>
          <a:p>
            <a:pPr algn="l" marL="168910" indent="-168910">
              <a:lnSpc>
                <a:spcPts val="1740"/>
              </a:lnSpc>
              <a:buSzPct val="100000"/>
              <a:buFontTx/>
              <a:buAutoNum type="arabicPeriod" startAt="1"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Atualizar suavemente a rede alvo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18200" y="1790700"/>
            <a:ext cx="5461000" cy="3340100"/>
          </a:xfrm>
          <a:prstGeom prst="roundRect">
            <a:avLst>
              <a:gd name="adj" fmla="val 3042"/>
            </a:avLst>
          </a:prstGeom>
          <a:solidFill>
            <a:srgbClr val="14213D"/>
          </a:solidFill>
          <a:ln/>
        </p:spPr>
      </p:sp>
      <p:sp>
        <p:nvSpPr>
          <p:cNvPr id="6" name="Text 4"/>
          <p:cNvSpPr/>
          <p:nvPr/>
        </p:nvSpPr>
        <p:spPr>
          <a:xfrm>
            <a:off x="6172200" y="2019300"/>
            <a:ext cx="510159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q = net(si, sf)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72200" y="2260600"/>
            <a:ext cx="510159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q_sa = q.gather(1, a[:, None]).squeeze(1)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72200" y="2501900"/>
            <a:ext cx="510159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with torch.no_grad():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72200" y="2743200"/>
            <a:ext cx="510159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si2, sf2 = next_state(si, sf, a, fb)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72200" y="2984500"/>
            <a:ext cx="510159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a2 = mask_scores(net(si2, sf2), si2).argmax(1)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72200" y="3225800"/>
            <a:ext cx="510159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q_alvo = tgt(si2, sf2).gather(1, a2[:, None])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72200" y="3467100"/>
            <a:ext cx="510159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y = r + GAMMA * (1 - d) * q_alvo.squeeze(1)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72200" y="3708400"/>
            <a:ext cx="510159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td = F.mse_loss(q_sa, y)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72200" y="3949700"/>
            <a:ext cx="510159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q_valid = q.clone(); q_valid[:, 0] = NEG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72200" y="4191000"/>
            <a:ext cx="510159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08A4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gap = (torch.logsumexp(q_valid, 1) - q_sa).mean()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72200" y="4432300"/>
            <a:ext cx="510159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08A4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loss = td + alpha * gap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72200" y="4673600"/>
            <a:ext cx="510159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AA6B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Trecho resumido de train_cql em cql_discreto.py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AJUSTANDO Α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64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Escolher α sem simulador: a FQE ajuda, mas pouco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39900"/>
            <a:ext cx="10566400" cy="3556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</p:spPr>
      </p:sp>
      <p:pic>
        <p:nvPicPr>
          <p:cNvPr id="5" name="Image 0" descr="À esquerda, valor estimado pela FQE para cada α, com o escolhido em α = 0,5; à direita, watch ratio acumulado no simulador para cada α, com o melhor em α = 0,01 e todos acima de BC e Popularida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3963" y="1746250"/>
            <a:ext cx="9744075" cy="35433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5975" y="1743075"/>
            <a:ext cx="10560050" cy="3549650"/>
          </a:xfrm>
          <a:prstGeom prst="roundRect">
            <a:avLst>
              <a:gd name="adj" fmla="val 2773"/>
            </a:avLst>
          </a:prstGeom>
          <a:noFill/>
          <a:ln w="6350">
            <a:solidFill>
              <a:srgbClr val="DDD8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2800" y="5448300"/>
            <a:ext cx="1088339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Teste sintético: a FQE escolheu α = 0,5 (15,0 no simulador); o melhor foi α = 0,01 (16,2). A FQE errou a ordem entre os α (Spearman −0,3), mas todos superaram BC (11,2) e Popularidade (13,7).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MONITORANDO O TREINO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64"/>
            <a:ext cx="113792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Os valores de Q mostram se o conservadorismo é suficiente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39900"/>
            <a:ext cx="5588000" cy="3556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</p:spPr>
      </p:sp>
      <p:pic>
        <p:nvPicPr>
          <p:cNvPr id="5" name="Image 0" descr="Curvas de max Q médio ao longo de 6 mil passos para cinco valores de α; com α = 0,01 a curva ultrapassa a linha do máximo teórico de 20, enquanto α = 0,5 e 1 ficam abaixo de 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50" y="1924957"/>
            <a:ext cx="5575300" cy="31858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5975" y="1743075"/>
            <a:ext cx="5581650" cy="3549650"/>
          </a:xfrm>
          <a:prstGeom prst="roundRect">
            <a:avLst>
              <a:gd name="adj" fmla="val 2773"/>
            </a:avLst>
          </a:prstGeom>
          <a:noFill/>
          <a:ln w="6350">
            <a:solidFill>
              <a:srgbClr val="DDD8C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756400" y="1746250"/>
            <a:ext cx="4622800" cy="0"/>
          </a:xfrm>
          <a:prstGeom prst="line">
            <a:avLst/>
          </a:prstGeom>
          <a:noFill/>
          <a:ln w="12700">
            <a:solidFill>
              <a:srgbClr val="B4501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56400" y="1851664"/>
            <a:ext cx="476148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acompanhar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756400" y="2146300"/>
            <a:ext cx="47614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cada log: Q da ação dos dados, max Q, gap e erro TD. O script imprime os quatro.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756400" y="2782571"/>
            <a:ext cx="4622800" cy="0"/>
          </a:xfrm>
          <a:prstGeom prst="line">
            <a:avLst/>
          </a:prstGeom>
          <a:noFill/>
          <a:ln w="12700">
            <a:solidFill>
              <a:srgbClr val="B4501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56400" y="2887979"/>
            <a:ext cx="476148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Alerta: Q acima do teto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756400" y="3182621"/>
            <a:ext cx="47614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 recompensa até 2 e γ = 0,9, Q não deveria passar de cerca de 20. Com α = 0,01 passou: conservadorismo insuficiente.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756400" y="3818892"/>
            <a:ext cx="4622800" cy="0"/>
          </a:xfrm>
          <a:prstGeom prst="line">
            <a:avLst/>
          </a:prstGeom>
          <a:noFill/>
          <a:ln w="12700">
            <a:solidFill>
              <a:srgbClr val="B4501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56400" y="3924300"/>
            <a:ext cx="476148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Gap e TD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756400" y="4218942"/>
            <a:ext cx="47614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Gap perto de zero indica que a política virou imitação. TD subindo sem parar indica instabilidade.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C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CUIDADOS PRÁTICOS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64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Detalhes que mudam o resultado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844675"/>
            <a:ext cx="5200650" cy="1144270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6350">
            <a:solidFill>
              <a:srgbClr val="C9C2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2049779"/>
            <a:ext cx="493415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MSE no TD, não Huber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1080" y="2357121"/>
            <a:ext cx="493415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 Huber, o gradiente do TD satura e o termo do CQL domina, inflando Q. Vimos isso no pipeline e trocamos por MSE.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5375" y="1844675"/>
            <a:ext cx="5200650" cy="1144270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6350">
            <a:solidFill>
              <a:srgbClr val="C9C2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80480" y="2049779"/>
            <a:ext cx="493415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escala de α não é universal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80480" y="2357121"/>
            <a:ext cx="493415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Depende da escala da recompensa e do número de ações. Ao normalizar a recompensa, refaça a varredura de α.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5975" y="3147696"/>
            <a:ext cx="5200650" cy="1144270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6350">
            <a:solidFill>
              <a:srgbClr val="C9C2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1080" y="3352800"/>
            <a:ext cx="493415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 do logsumexp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21080" y="3660142"/>
            <a:ext cx="493415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Soma sobre todos os ~3.300 vídeos a cada passo. Em catálogos muito maiores, amostre ações para estimar o termo.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5375" y="3147696"/>
            <a:ext cx="5200650" cy="1144270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6350">
            <a:solidFill>
              <a:srgbClr val="C9C2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0480" y="3352800"/>
            <a:ext cx="493415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Máscaras coerentes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80480" y="3660142"/>
            <a:ext cx="493415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padding não é ação: fora do logsumexp. As mesmas regras de máscara no alvo, na política e na avaliação.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QUANDO USAR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64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Pontos fortes e limitações do CQL discreto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844675"/>
            <a:ext cx="5175250" cy="2687320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2100579"/>
            <a:ext cx="480334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Pontos fortes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50112" y="2471421"/>
            <a:ext cx="4717491" cy="1830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Uma linha a mais que um DQN: fácil de implementar e depurar</a:t>
            </a:r>
            <a:endParaRPr lang="en-US" sz="1400" dirty="0"/>
          </a:p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Funciona com espaços de ações discretos grandes, como um catálogo de vídeos</a:t>
            </a:r>
            <a:endParaRPr lang="en-US" sz="1400" dirty="0"/>
          </a:p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 teoria, aprende um limite inferior do valor real: erra para o lado seguro</a:t>
            </a:r>
            <a:endParaRPr lang="en-US" sz="1400" dirty="0"/>
          </a:p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único hiperparâmetro controla o conservadorismo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00775" y="1844675"/>
            <a:ext cx="5175250" cy="2687320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6680" y="2100579"/>
            <a:ext cx="480334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Limitações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4912" y="2471421"/>
            <a:ext cx="4717491" cy="1572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Muito sensível a α, que não tem valor universal</a:t>
            </a:r>
            <a:endParaRPr lang="en-US" sz="1400" dirty="0"/>
          </a:p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Escolher α sem simulador depende de uma OPE ruidosa</a:t>
            </a:r>
            <a:endParaRPr lang="en-US" sz="1400" dirty="0"/>
          </a:p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Conservador demais, vira imitação e perde o ganho de RL</a:t>
            </a:r>
            <a:endParaRPr lang="en-US" sz="1400" dirty="0"/>
          </a:p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custo do logsumexp cresce com o número de ações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04064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08A4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 UMA FRASE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522221"/>
            <a:ext cx="10464800" cy="112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i="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CQL = DQN + um termo que </a:t>
            </a:r>
            <a:r>
              <a:rPr lang="en-US" sz="3600" b="1" i="0" dirty="0">
                <a:solidFill>
                  <a:srgbClr val="F08A4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pune o otimismo sem evidência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3924300"/>
            <a:ext cx="981075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C9D1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Próximo passo: rodar a varredura de α no KuaiRec real e comparar com BC e IQL discreto.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6B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Referência: Kumar, A.; Zhou, A.; Tucker, G.; Levine, S. Conservative Q-Learning for Offline Reinforcement Learning. NeurIPS 2020.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QL discreto">
  <a:themeElements>
    <a:clrScheme name="CQL discreto">
      <a:dk1>
        <a:srgbClr val="14213D"/>
      </a:dk1>
      <a:lt1>
        <a:srgbClr val="F7F5F0"/>
      </a:lt1>
      <a:dk2>
        <a:srgbClr val="4D566A"/>
      </a:dk2>
      <a:lt2>
        <a:srgbClr val="E0E0DE"/>
      </a:lt2>
      <a:accent1>
        <a:srgbClr val="B4501F"/>
      </a:accent1>
      <a:accent2>
        <a:srgbClr val="F6D5C2"/>
      </a:accent2>
      <a:accent3>
        <a:srgbClr val="F08A4B"/>
      </a:accent3>
      <a:accent4>
        <a:srgbClr val="FBE3D3"/>
      </a:accent4>
      <a:accent5>
        <a:srgbClr val="4A5568"/>
      </a:accent5>
      <a:accent6>
        <a:srgbClr val="C9D1E0"/>
      </a:accent6>
      <a:hlink>
        <a:srgbClr val="0563C1"/>
      </a:hlink>
      <a:folHlink>
        <a:srgbClr val="954F72"/>
      </a:folHlink>
    </a:clrScheme>
    <a:fontScheme name="CQL discreto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CQL discreto</dc:title>
  <dc:subject/>
  <dc:creator/>
  <cp:lastModifiedBy/>
  <cp:revision>1</cp:revision>
  <dcterms:created xsi:type="dcterms:W3CDTF">2026-10-13T19:09:53Z</dcterms:created>
  <dcterms:modified xsi:type="dcterms:W3CDTF">2026-10-13T19:09:53Z</dcterms:modified>
</cp:coreProperties>
</file>