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8" r:id="rId2"/>
    <p:sldId id="256" r:id="rId3"/>
    <p:sldId id="257" r:id="rId4"/>
    <p:sldId id="260" r:id="rId5"/>
    <p:sldId id="259" r:id="rId6"/>
    <p:sldId id="261" r:id="rId7"/>
    <p:sldId id="262" r:id="rId8"/>
    <p:sldId id="266" r:id="rId9"/>
    <p:sldId id="267" r:id="rId10"/>
    <p:sldId id="265" r:id="rId11"/>
    <p:sldId id="264" r:id="rId12"/>
    <p:sldId id="263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1" d="100"/>
          <a:sy n="81" d="100"/>
        </p:scale>
        <p:origin x="677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8F245ED-802E-42E8-855C-0A767F1793D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304843A0-8925-451F-9A53-58E3DAFBC40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  <a:endParaRPr lang="en-US"/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436F94C5-A956-4E2C-9471-D1C019B5FB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3207D6-1250-408A-BC15-01F70851187B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80ED048C-C3AF-42E7-9454-6E6B42F306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3C05EBC3-319C-4317-BD5C-C34E4E8F0B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7752DD-0A53-44ED-9B98-B700A5E4339A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4194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A9275EB-48FC-4AE6-B3FD-099BE30AF4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EDBCFBB-8EAC-4146-8216-57453420B1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D14CB13-8881-4535-958F-072064FF9D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3207D6-1250-408A-BC15-01F70851187B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2378E97-02C4-4BF2-BC93-2029C42B37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E6D1433F-D6D6-42DC-8657-C746831706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7752DD-0A53-44ED-9B98-B700A5E4339A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56774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AC92443-C9E9-4534-9125-303A0C325A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69EA2370-2D78-4FDD-B94F-65FBF795AF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C883E10-54BF-43AA-84FC-52380A5D76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3207D6-1250-408A-BC15-01F70851187B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4234707C-0F8D-4094-886B-BD57E1FD20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55F4CDC-7A7B-4C8B-B1C3-59C33D4D20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7752DD-0A53-44ED-9B98-B700A5E4339A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91644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2625F11-0A7B-4F73-9ADF-BC90C29332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9EFEC98-1262-4C3C-BAE4-21C0D99B817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457E141C-A191-4CBB-B032-42CCDD24475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344B0D68-06E0-416A-B5D6-2EFEF3B0EF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3207D6-1250-408A-BC15-01F70851187B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C2296FCF-BD11-421E-AB77-C57E12ED12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44749515-B9C1-4CD0-93FD-EB2E4A6666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7752DD-0A53-44ED-9B98-B700A5E4339A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50745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D3B5F0D-CBA5-4524-85C7-5501CCAE3A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E20237C8-95DB-42F0-95A9-D81FC53446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36DC4E9F-1A8D-41AF-801C-DF39D8A2F3B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2F0257CC-69F0-4531-827F-31B0F67BC4C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785ECFA3-D87F-4554-92AD-C1C8ADFD292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58DF441A-D654-4E0E-8CD6-E762FDC1D6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3207D6-1250-408A-BC15-01F70851187B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691062C4-2C22-4CF4-99D4-C831CB3754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0E290842-D89E-4C61-9670-46DB726AA7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7752DD-0A53-44ED-9B98-B700A5E4339A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64353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D59BF92-7F32-491D-BDAE-ED89DA9DF7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48B327EE-5E42-47E4-B69E-5347306138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3207D6-1250-408A-BC15-01F70851187B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2421E86D-BD55-4F94-8008-C5093453F8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F929CA63-1C25-40AD-9072-D23853DC38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7752DD-0A53-44ED-9B98-B700A5E4339A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06323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F51944D0-2706-462E-9E91-F8C3864F5E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3207D6-1250-408A-BC15-01F70851187B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B3D1A012-9333-4B79-BB61-B99B4A330B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D74C9C46-F20B-4A7D-8515-036A80270D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7752DD-0A53-44ED-9B98-B700A5E4339A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67696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411208A-FDDF-4547-B319-D22762AE1A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7AFB797-DD01-48FF-8E0F-6D8406D599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3B94A71E-31E7-42C1-B770-E187825C859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7B8CFBBA-F4A1-4097-8FE9-B58EACA955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3207D6-1250-408A-BC15-01F70851187B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ADD84F07-3F90-4CD2-986A-D70BB36540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213AFD79-8973-4949-9D8C-71CD10F8C2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7752DD-0A53-44ED-9B98-B700A5E4339A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56657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9A9E820-90D1-4191-ADD3-3AE89B284A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3C2F2585-9C83-48CC-93EF-0B7C2881A91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F52D55C4-37A3-4BA2-BB61-74CBD78ACEB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3E3D8734-CFBB-4E35-9E95-305F2FC723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3207D6-1250-408A-BC15-01F70851187B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2368BFF5-6A47-4F26-845F-0ED3BC6A42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00FD05CD-CBE6-4CF3-9599-D152805FC6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7752DD-0A53-44ED-9B98-B700A5E4339A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1281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4E17DF7-A6D3-437D-8425-936A087608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EC242C1B-35A1-4910-BEA9-D0119D9F90A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CFAA059-B01D-4DB7-9903-37E1BA8F14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3207D6-1250-408A-BC15-01F70851187B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FF97F8E-4A17-44BF-B6C1-1D1DC76DF9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CD049052-D8B5-4215-BEB2-E3CC6539ED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7752DD-0A53-44ED-9B98-B700A5E4339A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73318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66874A09-F170-4A0F-9DDF-D9BC1B7FA78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43FB639D-9FA5-420A-A2CD-AC94285222C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0CFF4FB-1686-4FD9-A6EE-D2628A3DE8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3207D6-1250-408A-BC15-01F70851187B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ED1FCE81-15BF-4212-952D-7D1843CAFC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E4F0EFD4-E5C7-45DA-845C-4F66800545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7752DD-0A53-44ED-9B98-B700A5E4339A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06599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D49DA305-072F-48C3-B487-49631204E3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571CAE32-626F-411D-A981-A4C8C6DD5D0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4D13E3BC-9667-4E33-AD9E-081603E341A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83207D6-1250-408A-BC15-01F70851187B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55E2F781-B6A7-4799-A724-21CD13E2578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3CE0456B-D8E4-426A-8B2A-286BCB14BC7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A7752DD-0A53-44ED-9B98-B700A5E4339A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66362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>
            <a:extLst>
              <a:ext uri="{FF2B5EF4-FFF2-40B4-BE49-F238E27FC236}">
                <a16:creationId xmlns:a16="http://schemas.microsoft.com/office/drawing/2014/main" id="{9E5203C1-4BDB-4773-B34C-E93350055F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Sobre o </a:t>
            </a:r>
            <a:r>
              <a:rPr lang="pt-BR" dirty="0" err="1"/>
              <a:t>Dataset</a:t>
            </a:r>
            <a:endParaRPr lang="en-US" dirty="0"/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70D1FA1B-57CB-4655-B0A1-6F0FED1B19FD}"/>
              </a:ext>
            </a:extLst>
          </p:cNvPr>
          <p:cNvSpPr txBox="1"/>
          <p:nvPr/>
        </p:nvSpPr>
        <p:spPr>
          <a:xfrm>
            <a:off x="838200" y="1598464"/>
            <a:ext cx="10379698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latin typeface="Consolas" panose="020B0609020204030204" pitchFamily="49" charset="0"/>
              </a:rPr>
              <a:t>Actions       : [0, 2, 2, 2, 2, 2, 1, 2, 2, 0, 2, 2, 2, 2, 2, 2, 2, 2, 2, 1, 2, 2, 2]</a:t>
            </a:r>
          </a:p>
          <a:p>
            <a:r>
              <a:rPr lang="en-US" sz="1600" dirty="0">
                <a:latin typeface="Consolas" panose="020B0609020204030204" pitchFamily="49" charset="0"/>
              </a:rPr>
              <a:t>Rewards       : [0, 0, 0, 0, 0, 0, 0, 0, 0, 0, 0, 0, 0, 0, 0, 0, 0, 0, 0, 0, 0, 0, 0.793]</a:t>
            </a:r>
          </a:p>
          <a:p>
            <a:r>
              <a:rPr lang="en-US" sz="1600" dirty="0">
                <a:latin typeface="Consolas" panose="020B0609020204030204" pitchFamily="49" charset="0"/>
              </a:rPr>
              <a:t>Terminations  : [0, 0, 0, ... 0, 1]</a:t>
            </a:r>
          </a:p>
          <a:p>
            <a:r>
              <a:rPr lang="en-US" sz="1600" dirty="0">
                <a:latin typeface="Consolas" panose="020B0609020204030204" pitchFamily="49" charset="0"/>
              </a:rPr>
              <a:t>Truncations   : [0, 0, 0, ... 0, 0]</a:t>
            </a:r>
          </a:p>
          <a:p>
            <a:r>
              <a:rPr lang="en-US" sz="1600" dirty="0">
                <a:latin typeface="Consolas" panose="020B0609020204030204" pitchFamily="49" charset="0"/>
              </a:rPr>
              <a:t>Direction     : [0, 3, 3, 3, 3, 3, 3, 0, 0, 0, 3, 3, 3, ...]</a:t>
            </a:r>
          </a:p>
          <a:p>
            <a:r>
              <a:rPr lang="en-US" sz="1600" dirty="0">
                <a:latin typeface="Consolas" panose="020B0609020204030204" pitchFamily="49" charset="0"/>
              </a:rPr>
              <a:t>Mission       : "reach the goal"</a:t>
            </a:r>
          </a:p>
        </p:txBody>
      </p:sp>
    </p:spTree>
    <p:extLst>
      <p:ext uri="{BB962C8B-B14F-4D97-AF65-F5344CB8AC3E}">
        <p14:creationId xmlns:p14="http://schemas.microsoft.com/office/powerpoint/2010/main" val="36281997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>
            <a:extLst>
              <a:ext uri="{FF2B5EF4-FFF2-40B4-BE49-F238E27FC236}">
                <a16:creationId xmlns:a16="http://schemas.microsoft.com/office/drawing/2014/main" id="{9E5203C1-4BDB-4773-B34C-E93350055F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Sobre o </a:t>
            </a:r>
            <a:r>
              <a:rPr lang="pt-BR" dirty="0" err="1"/>
              <a:t>Dataset</a:t>
            </a:r>
            <a:endParaRPr lang="en-US" dirty="0"/>
          </a:p>
        </p:txBody>
      </p:sp>
      <p:graphicFrame>
        <p:nvGraphicFramePr>
          <p:cNvPr id="5" name="Tabela 5">
            <a:extLst>
              <a:ext uri="{FF2B5EF4-FFF2-40B4-BE49-F238E27FC236}">
                <a16:creationId xmlns:a16="http://schemas.microsoft.com/office/drawing/2014/main" id="{A9F02080-4836-4D11-B51A-B9C7E6A2C97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78473820"/>
              </p:ext>
            </p:extLst>
          </p:nvPr>
        </p:nvGraphicFramePr>
        <p:xfrm>
          <a:off x="838200" y="1945150"/>
          <a:ext cx="10515600" cy="3672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05200">
                  <a:extLst>
                    <a:ext uri="{9D8B030D-6E8A-4147-A177-3AD203B41FA5}">
                      <a16:colId xmlns:a16="http://schemas.microsoft.com/office/drawing/2014/main" val="294943160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397666753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252577588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Campo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Formato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Conteúdo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8837934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observations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/>
                        <a:t>dicionário com T+1 entradas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/>
                        <a:t>o que o agente viu, incluindo a observação final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70412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actions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/>
                        <a:t>T inteiros (0 a 6)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/>
                        <a:t>a ação tomada em cada passo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8272588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rewards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T números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/>
                        <a:t>a recompensa recebida após cada ação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6166848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terminations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T booleanos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/>
                        <a:t>True quando o episódio termina por chegar ao objetivo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8359335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truncations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T booleanos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/>
                        <a:t>True quando o episódio é cortado no limite de 100 passos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623932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infos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dicionário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vazio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neste</a:t>
                      </a:r>
                      <a:r>
                        <a:rPr lang="en-US" dirty="0"/>
                        <a:t> dataset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5009126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47984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>
            <a:extLst>
              <a:ext uri="{FF2B5EF4-FFF2-40B4-BE49-F238E27FC236}">
                <a16:creationId xmlns:a16="http://schemas.microsoft.com/office/drawing/2014/main" id="{9E5203C1-4BDB-4773-B34C-E93350055F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Sobre as Ações</a:t>
            </a:r>
            <a:endParaRPr lang="en-US" dirty="0"/>
          </a:p>
        </p:txBody>
      </p:sp>
      <p:graphicFrame>
        <p:nvGraphicFramePr>
          <p:cNvPr id="2" name="Tabela 2">
            <a:extLst>
              <a:ext uri="{FF2B5EF4-FFF2-40B4-BE49-F238E27FC236}">
                <a16:creationId xmlns:a16="http://schemas.microsoft.com/office/drawing/2014/main" id="{9E506BBC-0BBD-4521-9C7E-BC0910530EF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0798196"/>
              </p:ext>
            </p:extLst>
          </p:nvPr>
        </p:nvGraphicFramePr>
        <p:xfrm>
          <a:off x="838200" y="1454956"/>
          <a:ext cx="10756770" cy="323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34039">
                  <a:extLst>
                    <a:ext uri="{9D8B030D-6E8A-4147-A177-3AD203B41FA5}">
                      <a16:colId xmlns:a16="http://schemas.microsoft.com/office/drawing/2014/main" val="199065059"/>
                    </a:ext>
                  </a:extLst>
                </a:gridCol>
                <a:gridCol w="1574276">
                  <a:extLst>
                    <a:ext uri="{9D8B030D-6E8A-4147-A177-3AD203B41FA5}">
                      <a16:colId xmlns:a16="http://schemas.microsoft.com/office/drawing/2014/main" val="941061644"/>
                    </a:ext>
                  </a:extLst>
                </a:gridCol>
                <a:gridCol w="8248455">
                  <a:extLst>
                    <a:ext uri="{9D8B030D-6E8A-4147-A177-3AD203B41FA5}">
                      <a16:colId xmlns:a16="http://schemas.microsoft.com/office/drawing/2014/main" val="383319054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Código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Nome no MiniGrid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Efeito em FourRooms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1856068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left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gira 90° à esquerda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0707077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right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gira 90° à direita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313856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forward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/>
                        <a:t>anda uma casa para frente (se houver parede, fica parado)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7596815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pickup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/>
                        <a:t>pegar objeto (</a:t>
                      </a:r>
                      <a:r>
                        <a:rPr lang="pt-BR" b="1"/>
                        <a:t>sem efeito</a:t>
                      </a:r>
                      <a:r>
                        <a:rPr lang="pt-BR"/>
                        <a:t>, não há objetos)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250120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drop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soltar objeto (</a:t>
                      </a:r>
                      <a:r>
                        <a:rPr lang="en-US" b="1"/>
                        <a:t>sem efeito</a:t>
                      </a:r>
                      <a:r>
                        <a:rPr lang="en-US"/>
                        <a:t>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978698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toggle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/>
                        <a:t>abrir/fechar porta (</a:t>
                      </a:r>
                      <a:r>
                        <a:rPr lang="pt-BR" b="1"/>
                        <a:t>sem efeito</a:t>
                      </a:r>
                      <a:r>
                        <a:rPr lang="pt-BR"/>
                        <a:t>, não há portas)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3035916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done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sinalizar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fim</a:t>
                      </a:r>
                      <a:r>
                        <a:rPr lang="en-US" dirty="0"/>
                        <a:t> (</a:t>
                      </a:r>
                      <a:r>
                        <a:rPr lang="en-US" b="1" dirty="0" err="1"/>
                        <a:t>sem</a:t>
                      </a:r>
                      <a:r>
                        <a:rPr lang="en-US" b="1" dirty="0"/>
                        <a:t> </a:t>
                      </a:r>
                      <a:r>
                        <a:rPr lang="en-US" b="1" dirty="0" err="1"/>
                        <a:t>efeito</a:t>
                      </a:r>
                      <a:r>
                        <a:rPr lang="en-US" dirty="0"/>
                        <a:t>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4119943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253632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>
            <a:extLst>
              <a:ext uri="{FF2B5EF4-FFF2-40B4-BE49-F238E27FC236}">
                <a16:creationId xmlns:a16="http://schemas.microsoft.com/office/drawing/2014/main" id="{9E5203C1-4BDB-4773-B34C-E93350055F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Sobre a Observação</a:t>
            </a:r>
            <a:endParaRPr lang="en-US" dirty="0"/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DD5663B3-1164-45EA-8453-55F3F1099071}"/>
              </a:ext>
            </a:extLst>
          </p:cNvPr>
          <p:cNvSpPr txBox="1"/>
          <p:nvPr/>
        </p:nvSpPr>
        <p:spPr>
          <a:xfrm>
            <a:off x="838200" y="1562195"/>
            <a:ext cx="1074734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dirty="0"/>
              <a:t>O agente </a:t>
            </a:r>
            <a:r>
              <a:rPr lang="pt-BR" b="1" dirty="0"/>
              <a:t>não vê o mapa inteiro</a:t>
            </a:r>
            <a:r>
              <a:rPr lang="pt-BR" dirty="0"/>
              <a:t>, só uma janela 7×7 à sua frente. Cada observação é um dicionário com três partes:</a:t>
            </a:r>
            <a:endParaRPr lang="en-US" dirty="0"/>
          </a:p>
        </p:txBody>
      </p:sp>
      <p:graphicFrame>
        <p:nvGraphicFramePr>
          <p:cNvPr id="3" name="Tabela 5">
            <a:extLst>
              <a:ext uri="{FF2B5EF4-FFF2-40B4-BE49-F238E27FC236}">
                <a16:creationId xmlns:a16="http://schemas.microsoft.com/office/drawing/2014/main" id="{5AC361D6-F342-40C0-B815-2F014CC6494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04779857"/>
              </p:ext>
            </p:extLst>
          </p:nvPr>
        </p:nvGraphicFramePr>
        <p:xfrm>
          <a:off x="207390" y="2364645"/>
          <a:ext cx="11726944" cy="3388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70581">
                  <a:extLst>
                    <a:ext uri="{9D8B030D-6E8A-4147-A177-3AD203B41FA5}">
                      <a16:colId xmlns:a16="http://schemas.microsoft.com/office/drawing/2014/main" val="1044420422"/>
                    </a:ext>
                  </a:extLst>
                </a:gridCol>
                <a:gridCol w="10256363">
                  <a:extLst>
                    <a:ext uri="{9D8B030D-6E8A-4147-A177-3AD203B41FA5}">
                      <a16:colId xmlns:a16="http://schemas.microsoft.com/office/drawing/2014/main" val="77299272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023791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rtl="0"/>
                      <a:r>
                        <a:rPr lang="pt-BR" b="1" dirty="0" err="1"/>
                        <a:t>image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0"/>
                      <a:r>
                        <a:rPr lang="pt-BR" dirty="0" err="1"/>
                        <a:t>array</a:t>
                      </a:r>
                      <a:r>
                        <a:rPr lang="pt-BR" dirty="0"/>
                        <a:t> 7×7×3. Cada célula da janela tem três números: </a:t>
                      </a:r>
                    </a:p>
                    <a:p>
                      <a:pPr marL="263525" lvl="1" indent="-263525" rtl="0">
                        <a:buFont typeface="Arial" panose="020B0604020202020204" pitchFamily="34" charset="0"/>
                        <a:buChar char="•"/>
                      </a:pPr>
                      <a:r>
                        <a:rPr lang="pt-BR" dirty="0"/>
                        <a:t>canal 0, </a:t>
                      </a:r>
                      <a:r>
                        <a:rPr lang="pt-BR" b="1" dirty="0"/>
                        <a:t>tipo de objeto</a:t>
                      </a:r>
                      <a:r>
                        <a:rPr lang="pt-BR" dirty="0"/>
                        <a:t>: 0 = não visível, 1 = vazio, 2 = parede, 8 = objetivo, 10 = agente (porta, chave e lava existem no </a:t>
                      </a:r>
                      <a:r>
                        <a:rPr lang="pt-BR" dirty="0" err="1"/>
                        <a:t>MiniGrid</a:t>
                      </a:r>
                      <a:r>
                        <a:rPr lang="pt-BR" dirty="0"/>
                        <a:t>, mas não aparecem aqui);</a:t>
                      </a:r>
                    </a:p>
                    <a:p>
                      <a:pPr marL="263525" lvl="1" indent="-263525" rtl="0">
                        <a:buFont typeface="Arial" panose="020B0604020202020204" pitchFamily="34" charset="0"/>
                        <a:buChar char="•"/>
                      </a:pPr>
                      <a:r>
                        <a:rPr lang="pt-BR" dirty="0"/>
                        <a:t>canal 1, </a:t>
                      </a:r>
                      <a:r>
                        <a:rPr lang="pt-BR" b="1" dirty="0"/>
                        <a:t>cor</a:t>
                      </a:r>
                      <a:r>
                        <a:rPr lang="pt-BR" dirty="0"/>
                        <a:t>: 0 = vermelho, 1 = verde, 2 = azul, 3 = roxo, 4 = amarelo, 5 = cinza;</a:t>
                      </a:r>
                    </a:p>
                    <a:p>
                      <a:pPr marL="263525" lvl="1" indent="-263525" rtl="0">
                        <a:buFont typeface="Arial" panose="020B0604020202020204" pitchFamily="34" charset="0"/>
                        <a:buChar char="•"/>
                      </a:pPr>
                      <a:r>
                        <a:rPr lang="pt-BR" dirty="0"/>
                        <a:t>canal 2, </a:t>
                      </a:r>
                      <a:r>
                        <a:rPr lang="pt-BR" b="1" dirty="0"/>
                        <a:t>estado</a:t>
                      </a:r>
                      <a:r>
                        <a:rPr lang="pt-BR" dirty="0"/>
                        <a:t> (só faz sentido para portas): 0 = aberta, 1 = fechada, 2 = trancada.</a:t>
                      </a:r>
                    </a:p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407305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rtl="0"/>
                      <a:r>
                        <a:rPr lang="pt-BR" b="1" dirty="0" err="1"/>
                        <a:t>direction</a:t>
                      </a:r>
                      <a:endParaRPr lang="pt-BR" dirty="0"/>
                    </a:p>
                    <a:p>
                      <a:pPr rtl="0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, de 0 a 3: para onde o agente aponta (0 = leste, 1 = sul, 2 = oeste, 3 = norte).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0182988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b="1" dirty="0" err="1"/>
                        <a:t>mission</a:t>
                      </a:r>
                      <a:r>
                        <a:rPr lang="pt-BR" dirty="0"/>
                        <a:t>, </a:t>
                      </a:r>
                    </a:p>
                    <a:p>
                      <a:pPr rtl="0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texto: sempre "</a:t>
                      </a:r>
                      <a:r>
                        <a:rPr lang="pt-BR" dirty="0" err="1"/>
                        <a:t>reach</a:t>
                      </a:r>
                      <a:r>
                        <a:rPr lang="pt-BR" dirty="0"/>
                        <a:t> </a:t>
                      </a:r>
                      <a:r>
                        <a:rPr lang="pt-BR" dirty="0" err="1"/>
                        <a:t>the</a:t>
                      </a:r>
                      <a:r>
                        <a:rPr lang="pt-BR" dirty="0"/>
                        <a:t> </a:t>
                      </a:r>
                      <a:r>
                        <a:rPr lang="pt-BR" dirty="0" err="1"/>
                        <a:t>goal</a:t>
                      </a:r>
                      <a:r>
                        <a:rPr lang="pt-BR" dirty="0"/>
                        <a:t>". Por isso o código ignora esse campo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5945598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0107277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>
            <a:extLst>
              <a:ext uri="{FF2B5EF4-FFF2-40B4-BE49-F238E27FC236}">
                <a16:creationId xmlns:a16="http://schemas.microsoft.com/office/drawing/2014/main" id="{9E5203C1-4BDB-4773-B34C-E93350055F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O que o </a:t>
            </a:r>
            <a:r>
              <a:rPr lang="pt-BR" dirty="0" err="1"/>
              <a:t>dataset</a:t>
            </a:r>
            <a:r>
              <a:rPr lang="pt-BR" dirty="0"/>
              <a:t> não traz</a:t>
            </a:r>
            <a:endParaRPr lang="en-US" dirty="0"/>
          </a:p>
        </p:txBody>
      </p:sp>
      <p:graphicFrame>
        <p:nvGraphicFramePr>
          <p:cNvPr id="2" name="Tabela 2">
            <a:extLst>
              <a:ext uri="{FF2B5EF4-FFF2-40B4-BE49-F238E27FC236}">
                <a16:creationId xmlns:a16="http://schemas.microsoft.com/office/drawing/2014/main" id="{05D825EA-9959-4FB8-9D95-8FE00B55501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45933289"/>
              </p:ext>
            </p:extLst>
          </p:nvPr>
        </p:nvGraphicFramePr>
        <p:xfrm>
          <a:off x="910210" y="1690688"/>
          <a:ext cx="10599918" cy="202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99959">
                  <a:extLst>
                    <a:ext uri="{9D8B030D-6E8A-4147-A177-3AD203B41FA5}">
                      <a16:colId xmlns:a16="http://schemas.microsoft.com/office/drawing/2014/main" val="1137756109"/>
                    </a:ext>
                  </a:extLst>
                </a:gridCol>
                <a:gridCol w="5299959">
                  <a:extLst>
                    <a:ext uri="{9D8B030D-6E8A-4147-A177-3AD203B41FA5}">
                      <a16:colId xmlns:a16="http://schemas.microsoft.com/office/drawing/2014/main" val="113008322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854245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dirty="0"/>
                        <a:t>Posição do agente e do objetivo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especialista usava essas informações, mas elas não foram gravadas.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154844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dirty="0"/>
                        <a:t>Probabilidades da política que gerou os dados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sem elas, não dá para usar </a:t>
                      </a:r>
                      <a:r>
                        <a:rPr lang="pt-BR" i="1" dirty="0" err="1"/>
                        <a:t>importance</a:t>
                      </a:r>
                      <a:r>
                        <a:rPr lang="pt-BR" i="1" dirty="0"/>
                        <a:t> </a:t>
                      </a:r>
                      <a:r>
                        <a:rPr lang="pt-BR" i="1" dirty="0" err="1"/>
                        <a:t>sampling</a:t>
                      </a:r>
                      <a:r>
                        <a:rPr lang="pt-BR" dirty="0"/>
                        <a:t> direto na avaliação off-</a:t>
                      </a:r>
                      <a:r>
                        <a:rPr lang="pt-BR" dirty="0" err="1"/>
                        <a:t>policy</a:t>
                      </a:r>
                      <a:r>
                        <a:rPr lang="pt-BR" dirty="0"/>
                        <a:t>.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784296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dirty="0" err="1"/>
                        <a:t>Infos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vazio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8351182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9706897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>
            <a:extLst>
              <a:ext uri="{FF2B5EF4-FFF2-40B4-BE49-F238E27FC236}">
                <a16:creationId xmlns:a16="http://schemas.microsoft.com/office/drawing/2014/main" id="{9E5203C1-4BDB-4773-B34C-E93350055F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 </a:t>
            </a:r>
            <a:r>
              <a:rPr lang="en-US" dirty="0" err="1"/>
              <a:t>recompensa</a:t>
            </a:r>
            <a:endParaRPr lang="en-US" dirty="0"/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D519EE84-FCDB-45EF-97FA-5B22C59410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690688"/>
            <a:ext cx="5425910" cy="19813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699812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>
            <a:extLst>
              <a:ext uri="{FF2B5EF4-FFF2-40B4-BE49-F238E27FC236}">
                <a16:creationId xmlns:a16="http://schemas.microsoft.com/office/drawing/2014/main" id="{9E5203C1-4BDB-4773-B34C-E93350055F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Sobre o Ambiente</a:t>
            </a:r>
            <a:endParaRPr lang="en-US" dirty="0"/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CF71174F-3EB7-42CE-892B-398AD0FCED28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555" b="54639"/>
          <a:stretch/>
        </p:blipFill>
        <p:spPr>
          <a:xfrm>
            <a:off x="122548" y="1791093"/>
            <a:ext cx="6953383" cy="3110845"/>
          </a:xfrm>
          <a:prstGeom prst="rect">
            <a:avLst/>
          </a:prstGeom>
        </p:spPr>
      </p:pic>
      <p:pic>
        <p:nvPicPr>
          <p:cNvPr id="6" name="Imagem 5">
            <a:extLst>
              <a:ext uri="{FF2B5EF4-FFF2-40B4-BE49-F238E27FC236}">
                <a16:creationId xmlns:a16="http://schemas.microsoft.com/office/drawing/2014/main" id="{7BCDC811-4A9C-4C53-9591-C0B1FBEAA4F5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4261" b="30996"/>
          <a:stretch/>
        </p:blipFill>
        <p:spPr>
          <a:xfrm>
            <a:off x="122548" y="4901938"/>
            <a:ext cx="7521677" cy="1696826"/>
          </a:xfrm>
          <a:prstGeom prst="rect">
            <a:avLst/>
          </a:prstGeom>
        </p:spPr>
      </p:pic>
      <p:pic>
        <p:nvPicPr>
          <p:cNvPr id="8" name="Imagem 7">
            <a:extLst>
              <a:ext uri="{FF2B5EF4-FFF2-40B4-BE49-F238E27FC236}">
                <a16:creationId xmlns:a16="http://schemas.microsoft.com/office/drawing/2014/main" id="{3DBBBBD2-EDA3-42B4-89BB-20C1402677A2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9540" t="67904"/>
          <a:stretch/>
        </p:blipFill>
        <p:spPr>
          <a:xfrm>
            <a:off x="7956223" y="365125"/>
            <a:ext cx="3795404" cy="2201159"/>
          </a:xfrm>
          <a:prstGeom prst="rect">
            <a:avLst/>
          </a:prstGeom>
        </p:spPr>
      </p:pic>
      <p:pic>
        <p:nvPicPr>
          <p:cNvPr id="10" name="Imagem 9">
            <a:extLst>
              <a:ext uri="{FF2B5EF4-FFF2-40B4-BE49-F238E27FC236}">
                <a16:creationId xmlns:a16="http://schemas.microsoft.com/office/drawing/2014/main" id="{AD1EF7E8-911F-44D9-8AAB-21D67EB6E6E3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7904" r="50000"/>
          <a:stretch/>
        </p:blipFill>
        <p:spPr>
          <a:xfrm>
            <a:off x="7990788" y="2432114"/>
            <a:ext cx="3760839" cy="2201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215491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>
            <a:extLst>
              <a:ext uri="{FF2B5EF4-FFF2-40B4-BE49-F238E27FC236}">
                <a16:creationId xmlns:a16="http://schemas.microsoft.com/office/drawing/2014/main" id="{9E5203C1-4BDB-4773-B34C-E93350055F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Sobre o Ambiente</a:t>
            </a:r>
            <a:endParaRPr lang="en-US" dirty="0"/>
          </a:p>
        </p:txBody>
      </p:sp>
      <p:graphicFrame>
        <p:nvGraphicFramePr>
          <p:cNvPr id="2" name="Tabela 2">
            <a:extLst>
              <a:ext uri="{FF2B5EF4-FFF2-40B4-BE49-F238E27FC236}">
                <a16:creationId xmlns:a16="http://schemas.microsoft.com/office/drawing/2014/main" id="{2E5CBED5-E71B-49C8-BF83-95ABF281B04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1823346"/>
              </p:ext>
            </p:extLst>
          </p:nvPr>
        </p:nvGraphicFramePr>
        <p:xfrm>
          <a:off x="212625" y="1454956"/>
          <a:ext cx="11570880" cy="5125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0443">
                  <a:extLst>
                    <a:ext uri="{9D8B030D-6E8A-4147-A177-3AD203B41FA5}">
                      <a16:colId xmlns:a16="http://schemas.microsoft.com/office/drawing/2014/main" val="3565989353"/>
                    </a:ext>
                  </a:extLst>
                </a:gridCol>
                <a:gridCol w="9860437">
                  <a:extLst>
                    <a:ext uri="{9D8B030D-6E8A-4147-A177-3AD203B41FA5}">
                      <a16:colId xmlns:a16="http://schemas.microsoft.com/office/drawing/2014/main" val="306507582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0541699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O </a:t>
                      </a:r>
                      <a:r>
                        <a:rPr lang="en-US" dirty="0" err="1"/>
                        <a:t>mundo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Uma grade de 19×19 casas, dividida em quatro salas por paredes cinza. As salas se ligam por quatro passagens estreitas de uma casa cada (quadrados amarelos). A cada episódio são sorteados três elementos: a posição inicial do robô (triângulo vermelho), a direção para onde ele aponta e o objetivo (quadrado verde). A faixa mais clara mostra o que o robô está vendo naquele momento.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718263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dirty="0"/>
                        <a:t>O que o robô observa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À esquerda está o mapa real, que o robô </a:t>
                      </a:r>
                      <a:r>
                        <a:rPr lang="pt-BR" b="1" dirty="0"/>
                        <a:t>não</a:t>
                      </a:r>
                      <a:r>
                        <a:rPr lang="pt-BR" dirty="0"/>
                        <a:t> recebe. Ele vê só uma janela 7×7 à sua frente (B cont.), desenhada sempre com ele embaixo, olhando “para cima”. A grade numérica mostra o que de fato entra na rede: 0 = fora de vista, 1 = vazio, 2 = parede, 8 = objetivo. A isso se somam a cor, o estado e a direção.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8208795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As </a:t>
                      </a:r>
                      <a:r>
                        <a:rPr lang="en-US" dirty="0" err="1"/>
                        <a:t>ações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O painel mostra o efeito de cada ação a partir do mesmo estado, com a janela fixa para o movimento ficar visível. As ações 0 e 1 giram o robô no lugar e a 2 o faz avançar uma casa. As ações 3 a 6 não fazem nada neste ambiente, mas gastam um passo. É por isso que 57% dos passos do </a:t>
                      </a:r>
                      <a:r>
                        <a:rPr lang="pt-BR" dirty="0" err="1"/>
                        <a:t>dataset</a:t>
                      </a:r>
                      <a:r>
                        <a:rPr lang="pt-BR" dirty="0"/>
                        <a:t> aleatório são desperdiçados.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1131347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A </a:t>
                      </a:r>
                      <a:r>
                        <a:rPr lang="en-US" dirty="0" err="1"/>
                        <a:t>recompensa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O robô recebe zero em todos os passos, exceto no passo em que pisa no objetivo. Nesse passo, a recompensa cai em linha reta de quase 1 (chegou na hora) até 0,1 (chegou no centésimo passo). Se não chegar em 100 passos, o episódio é cortado com retorno 0. O histograma verde mostra que o especialista sempre chega em 1 a 35 passos.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5851089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0863963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>
            <a:extLst>
              <a:ext uri="{FF2B5EF4-FFF2-40B4-BE49-F238E27FC236}">
                <a16:creationId xmlns:a16="http://schemas.microsoft.com/office/drawing/2014/main" id="{9E5203C1-4BDB-4773-B34C-E93350055F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Sobre o Ambiente</a:t>
            </a:r>
            <a:endParaRPr lang="en-US" dirty="0"/>
          </a:p>
        </p:txBody>
      </p:sp>
      <p:graphicFrame>
        <p:nvGraphicFramePr>
          <p:cNvPr id="2" name="Tabela 2">
            <a:extLst>
              <a:ext uri="{FF2B5EF4-FFF2-40B4-BE49-F238E27FC236}">
                <a16:creationId xmlns:a16="http://schemas.microsoft.com/office/drawing/2014/main" id="{2E5CBED5-E71B-49C8-BF83-95ABF281B04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56900699"/>
              </p:ext>
            </p:extLst>
          </p:nvPr>
        </p:nvGraphicFramePr>
        <p:xfrm>
          <a:off x="212625" y="1454956"/>
          <a:ext cx="11570880" cy="2108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0443">
                  <a:extLst>
                    <a:ext uri="{9D8B030D-6E8A-4147-A177-3AD203B41FA5}">
                      <a16:colId xmlns:a16="http://schemas.microsoft.com/office/drawing/2014/main" val="3565989353"/>
                    </a:ext>
                  </a:extLst>
                </a:gridCol>
                <a:gridCol w="9860437">
                  <a:extLst>
                    <a:ext uri="{9D8B030D-6E8A-4147-A177-3AD203B41FA5}">
                      <a16:colId xmlns:a16="http://schemas.microsoft.com/office/drawing/2014/main" val="306507582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0541699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O </a:t>
                      </a:r>
                      <a:r>
                        <a:rPr lang="en-US" dirty="0" err="1"/>
                        <a:t>ciclo</a:t>
                      </a:r>
                      <a:r>
                        <a:rPr lang="en-US" dirty="0"/>
                        <a:t> e o dataset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0"/>
                      <a:r>
                        <a:rPr lang="pt-BR" dirty="0"/>
                        <a:t>No RL comum, a política e o ambiente trocam ação e observação continuamente. No Offline RL, esse ciclo foi rodado </a:t>
                      </a:r>
                      <a:r>
                        <a:rPr lang="pt-BR" b="1" dirty="0"/>
                        <a:t>uma vez, por outra política</a:t>
                      </a:r>
                      <a:r>
                        <a:rPr lang="pt-BR" dirty="0"/>
                        <a:t>, e apenas as </a:t>
                      </a:r>
                      <a:r>
                        <a:rPr lang="pt-BR" dirty="0" err="1"/>
                        <a:t>tuplas</a:t>
                      </a:r>
                      <a:r>
                        <a:rPr lang="pt-BR" dirty="0"/>
                        <a:t> (s, a, r, s’, terminou?) foram gravadas no </a:t>
                      </a:r>
                      <a:r>
                        <a:rPr lang="pt-BR" dirty="0" err="1"/>
                        <a:t>Minari</a:t>
                      </a:r>
                      <a:r>
                        <a:rPr lang="pt-BR" dirty="0"/>
                        <a:t>. O treino usa só essas </a:t>
                      </a:r>
                      <a:r>
                        <a:rPr lang="pt-BR" dirty="0" err="1"/>
                        <a:t>tuplas</a:t>
                      </a:r>
                      <a:r>
                        <a:rPr lang="pt-BR" dirty="0"/>
                        <a:t>, sem nunca interagir com o ambiente.</a:t>
                      </a:r>
                    </a:p>
                    <a:p>
                      <a:pPr rtl="0"/>
                      <a:r>
                        <a:rPr lang="pt-BR" dirty="0"/>
                        <a:t>A coluna “Por que isso importa” resume a consequência principal. O especialista via o mapa inteiro, e o agente treinado só vê a janela 7×7. Por isso nenhum dos métodos passou de cerca de 60% de sucesso.</a:t>
                      </a:r>
                    </a:p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7182638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152325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>
            <a:extLst>
              <a:ext uri="{FF2B5EF4-FFF2-40B4-BE49-F238E27FC236}">
                <a16:creationId xmlns:a16="http://schemas.microsoft.com/office/drawing/2014/main" id="{9E5203C1-4BDB-4773-B34C-E93350055F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Porque 7x7</a:t>
            </a:r>
            <a:endParaRPr lang="en-US" dirty="0"/>
          </a:p>
        </p:txBody>
      </p:sp>
      <p:graphicFrame>
        <p:nvGraphicFramePr>
          <p:cNvPr id="2" name="Tabela 2">
            <a:extLst>
              <a:ext uri="{FF2B5EF4-FFF2-40B4-BE49-F238E27FC236}">
                <a16:creationId xmlns:a16="http://schemas.microsoft.com/office/drawing/2014/main" id="{28A0B24E-CCBD-4FFA-9DC1-55FE52556BA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45909962"/>
              </p:ext>
            </p:extLst>
          </p:nvPr>
        </p:nvGraphicFramePr>
        <p:xfrm>
          <a:off x="335175" y="1558651"/>
          <a:ext cx="11495464" cy="2748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87654">
                  <a:extLst>
                    <a:ext uri="{9D8B030D-6E8A-4147-A177-3AD203B41FA5}">
                      <a16:colId xmlns:a16="http://schemas.microsoft.com/office/drawing/2014/main" val="4026732263"/>
                    </a:ext>
                  </a:extLst>
                </a:gridCol>
                <a:gridCol w="7107810">
                  <a:extLst>
                    <a:ext uri="{9D8B030D-6E8A-4147-A177-3AD203B41FA5}">
                      <a16:colId xmlns:a16="http://schemas.microsoft.com/office/drawing/2014/main" val="383368731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184304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dirty="0"/>
                        <a:t>Para criar observação parcial de propósito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O </a:t>
                      </a:r>
                      <a:r>
                        <a:rPr lang="pt-BR" dirty="0" err="1"/>
                        <a:t>MiniGrid</a:t>
                      </a:r>
                      <a:r>
                        <a:rPr lang="pt-BR" dirty="0"/>
                        <a:t> foi feito para pesquisa em exploração, memória e generalização. Se o agente visse o mapa inteiro, o problema viraria só achar o caminho mais curto. Uma janela pequena obriga o agente a explorar e lembrar onde já esteve, que é justamente o que se quer estudar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033318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err="1"/>
                        <a:t>Porque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precisa</a:t>
                      </a:r>
                      <a:r>
                        <a:rPr lang="en-US" dirty="0"/>
                        <a:t> ser </a:t>
                      </a:r>
                      <a:r>
                        <a:rPr lang="en-US" dirty="0" err="1"/>
                        <a:t>ímpar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O código exige </a:t>
                      </a:r>
                      <a:r>
                        <a:rPr lang="pt-BR" dirty="0" err="1"/>
                        <a:t>agent_view_size</a:t>
                      </a:r>
                      <a:r>
                        <a:rPr lang="pt-BR" dirty="0"/>
                        <a:t> % 2 == 1 e &gt;= 3. Com um número ímpar, existe uma coluna central exata para o agente ficar alinhado, com o mesmo número de casas de cada lado.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20577638"/>
                  </a:ext>
                </a:extLst>
              </a:tr>
            </a:tbl>
          </a:graphicData>
        </a:graphic>
      </p:graphicFrame>
      <p:graphicFrame>
        <p:nvGraphicFramePr>
          <p:cNvPr id="6" name="Tabela 6">
            <a:extLst>
              <a:ext uri="{FF2B5EF4-FFF2-40B4-BE49-F238E27FC236}">
                <a16:creationId xmlns:a16="http://schemas.microsoft.com/office/drawing/2014/main" id="{A9971BDB-8C35-4508-8426-5DDB5609E35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52085423"/>
              </p:ext>
            </p:extLst>
          </p:nvPr>
        </p:nvGraphicFramePr>
        <p:xfrm>
          <a:off x="335174" y="4801472"/>
          <a:ext cx="11495463" cy="914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495463">
                  <a:extLst>
                    <a:ext uri="{9D8B030D-6E8A-4147-A177-3AD203B41FA5}">
                      <a16:colId xmlns:a16="http://schemas.microsoft.com/office/drawing/2014/main" val="287850487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pt-BR" dirty="0"/>
                        <a:t>O 7×7 não vem de nenhuma lei do problema. É o </a:t>
                      </a:r>
                      <a:r>
                        <a:rPr lang="pt-BR" b="1" dirty="0"/>
                        <a:t>valor padrão do </a:t>
                      </a:r>
                      <a:r>
                        <a:rPr lang="pt-BR" b="1" dirty="0" err="1"/>
                        <a:t>MiniGrid</a:t>
                      </a:r>
                      <a:r>
                        <a:rPr lang="pt-BR" dirty="0"/>
                        <a:t>: o construtor de todos os ambientes da biblioteca tem o parâmetro </a:t>
                      </a:r>
                      <a:r>
                        <a:rPr lang="pt-BR" dirty="0" err="1"/>
                        <a:t>agent_view_size</a:t>
                      </a:r>
                      <a:r>
                        <a:rPr lang="pt-BR" dirty="0"/>
                        <a:t>: </a:t>
                      </a:r>
                      <a:r>
                        <a:rPr lang="pt-BR" dirty="0" err="1"/>
                        <a:t>int</a:t>
                      </a:r>
                      <a:r>
                        <a:rPr lang="pt-BR" dirty="0"/>
                        <a:t> = 7. Quem gerou o </a:t>
                      </a:r>
                      <a:r>
                        <a:rPr lang="pt-BR" dirty="0" err="1"/>
                        <a:t>dataset</a:t>
                      </a:r>
                      <a:r>
                        <a:rPr lang="pt-BR" dirty="0"/>
                        <a:t> D4RL/</a:t>
                      </a:r>
                      <a:r>
                        <a:rPr lang="pt-BR" dirty="0" err="1"/>
                        <a:t>minigrid</a:t>
                      </a:r>
                      <a:r>
                        <a:rPr lang="pt-BR" dirty="0"/>
                        <a:t> não mudou esse valor, então todas as observações gravadas têm esse tamanho.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3680603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9512732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>
            <a:extLst>
              <a:ext uri="{FF2B5EF4-FFF2-40B4-BE49-F238E27FC236}">
                <a16:creationId xmlns:a16="http://schemas.microsoft.com/office/drawing/2014/main" id="{9E5203C1-4BDB-4773-B34C-E93350055F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Podemos mudar ?</a:t>
            </a:r>
            <a:endParaRPr lang="en-US" dirty="0"/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570C43AF-D3FA-43C3-9435-E79A8AD6E270}"/>
              </a:ext>
            </a:extLst>
          </p:cNvPr>
          <p:cNvSpPr txBox="1"/>
          <p:nvPr/>
        </p:nvSpPr>
        <p:spPr>
          <a:xfrm>
            <a:off x="926184" y="1926219"/>
            <a:ext cx="1016916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dirty="0"/>
              <a:t>Mas </a:t>
            </a:r>
            <a:r>
              <a:rPr lang="pt-BR" b="1" dirty="0"/>
              <a:t>não com os </a:t>
            </a:r>
            <a:r>
              <a:rPr lang="pt-BR" b="1" dirty="0" err="1"/>
              <a:t>datasets</a:t>
            </a:r>
            <a:r>
              <a:rPr lang="pt-BR" b="1" dirty="0"/>
              <a:t> do </a:t>
            </a:r>
            <a:r>
              <a:rPr lang="pt-BR" b="1" dirty="0" err="1"/>
              <a:t>Minari</a:t>
            </a:r>
            <a:r>
              <a:rPr lang="pt-BR" b="1" dirty="0"/>
              <a:t> que estamos usando</a:t>
            </a:r>
            <a:r>
              <a:rPr lang="pt-BR" dirty="0"/>
              <a:t>: eles foram gravados com 7×7, e essa informação não pode ser ampliada depois. Para testar outra janela, seria preciso gerar um </a:t>
            </a:r>
            <a:r>
              <a:rPr lang="pt-BR" dirty="0" err="1"/>
              <a:t>dataset</a:t>
            </a:r>
            <a:r>
              <a:rPr lang="pt-BR" dirty="0"/>
              <a:t> novo.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6840961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>
            <a:extLst>
              <a:ext uri="{FF2B5EF4-FFF2-40B4-BE49-F238E27FC236}">
                <a16:creationId xmlns:a16="http://schemas.microsoft.com/office/drawing/2014/main" id="{9E5203C1-4BDB-4773-B34C-E93350055F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7342757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488</TotalTime>
  <Words>1192</Words>
  <Application>Microsoft Office PowerPoint</Application>
  <PresentationFormat>Widescreen</PresentationFormat>
  <Paragraphs>95</Paragraphs>
  <Slides>12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12</vt:i4>
      </vt:variant>
    </vt:vector>
  </HeadingPairs>
  <TitlesOfParts>
    <vt:vector size="17" baseType="lpstr">
      <vt:lpstr>Arial</vt:lpstr>
      <vt:lpstr>Calibri</vt:lpstr>
      <vt:lpstr>Calibri Light</vt:lpstr>
      <vt:lpstr>Consolas</vt:lpstr>
      <vt:lpstr>Tema do Office</vt:lpstr>
      <vt:lpstr>Sobre o Dataset</vt:lpstr>
      <vt:lpstr>Sobre o Dataset</vt:lpstr>
      <vt:lpstr>Sobre as Ações</vt:lpstr>
      <vt:lpstr>Sobre a Observação</vt:lpstr>
      <vt:lpstr>O que o dataset não traz</vt:lpstr>
      <vt:lpstr>A recompensa</vt:lpstr>
      <vt:lpstr>Sobre o Ambiente</vt:lpstr>
      <vt:lpstr>Sobre o Ambiente</vt:lpstr>
      <vt:lpstr>Sobre o Ambiente</vt:lpstr>
      <vt:lpstr>Porque 7x7</vt:lpstr>
      <vt:lpstr>Podemos mudar ?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Sobre o Dataset</dc:title>
  <dc:creator>Alexandre de C. Soares</dc:creator>
  <cp:lastModifiedBy>Alexandre de C. Soares</cp:lastModifiedBy>
  <cp:revision>7</cp:revision>
  <dcterms:created xsi:type="dcterms:W3CDTF">2026-10-16T11:10:10Z</dcterms:created>
  <dcterms:modified xsi:type="dcterms:W3CDTF">2026-10-16T19:18:10Z</dcterms:modified>
</cp:coreProperties>
</file>